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16"/>
  </p:notesMasterIdLst>
  <p:sldIdLst>
    <p:sldId id="256" r:id="rId3"/>
    <p:sldId id="259" r:id="rId4"/>
    <p:sldId id="258" r:id="rId5"/>
    <p:sldId id="269" r:id="rId6"/>
    <p:sldId id="267" r:id="rId7"/>
    <p:sldId id="260" r:id="rId8"/>
    <p:sldId id="261" r:id="rId9"/>
    <p:sldId id="268" r:id="rId10"/>
    <p:sldId id="262" r:id="rId11"/>
    <p:sldId id="263" r:id="rId12"/>
    <p:sldId id="264" r:id="rId13"/>
    <p:sldId id="265" r:id="rId14"/>
    <p:sldId id="266" r:id="rId15"/>
  </p:sldIdLst>
  <p:sldSz cx="9144000" cy="5143500" type="screen16x9"/>
  <p:notesSz cx="6858000" cy="9144000"/>
  <p:embeddedFontLst>
    <p:embeddedFont>
      <p:font typeface="Open Sans" panose="020B060603050402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620"/>
    <p:restoredTop sz="94660"/>
  </p:normalViewPr>
  <p:slideViewPr>
    <p:cSldViewPr snapToGrid="0">
      <p:cViewPr varScale="1">
        <p:scale>
          <a:sx n="145" d="100"/>
          <a:sy n="145" d="100"/>
        </p:scale>
        <p:origin x="100" y="108"/>
      </p:cViewPr>
      <p:guideLst>
        <p:guide orient="horz" pos="1620"/>
        <p:guide pos="2880"/>
      </p:guideLst>
    </p:cSldViewPr>
  </p:slideViewPr>
  <p:notesTextViewPr>
    <p:cViewPr>
      <p:scale>
        <a:sx n="1" d="1"/>
        <a:sy n="1" d="1"/>
      </p:scale>
      <p:origin x="0" y="0"/>
    </p:cViewPr>
  </p:notesTextViewPr>
  <p:notesViewPr>
    <p:cSldViewPr snapToGrid="0">
      <p:cViewPr varScale="1">
        <p:scale>
          <a:sx n="88" d="100"/>
          <a:sy n="88" d="100"/>
        </p:scale>
        <p:origin x="3180"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57515110cb_1_4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Presenter notes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Greetings and thank everyone for joining. </a:t>
            </a:r>
          </a:p>
          <a:p>
            <a:pPr marL="0" lvl="0" indent="0" algn="l" rtl="0">
              <a:spcBef>
                <a:spcPts val="0"/>
              </a:spcBef>
              <a:spcAft>
                <a:spcPts val="0"/>
              </a:spcAft>
              <a:buNone/>
            </a:pPr>
            <a:r>
              <a:rPr lang="en-US" dirty="0"/>
              <a:t>Normal introduction, read title and subtitle.</a:t>
            </a:r>
            <a:br>
              <a:rPr lang="en-US" dirty="0"/>
            </a:br>
            <a:br>
              <a:rPr lang="en-US" dirty="0"/>
            </a:br>
            <a:r>
              <a:rPr lang="en-US" dirty="0"/>
              <a:t>Introduce myself, move on smoothly. </a:t>
            </a:r>
            <a:endParaRPr dirty="0"/>
          </a:p>
        </p:txBody>
      </p:sp>
      <p:sp>
        <p:nvSpPr>
          <p:cNvPr id="127" name="Google Shape;127;g57515110cb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51e57a717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51e57a717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Our shared promise: a usable, tested increment every two weeks. Explain the main point in plain language, then connect it to the WorldVisitz mobile-launch scenario. Agile Onboarding We will work as one cross-functional Scrum Team, learning from working software rather than handing work through separate phases.</a:t>
            </a:r>
          </a:p>
          <a:p>
            <a:pPr marL="0" lvl="0" indent="0" algn="l" rtl="0">
              <a:spcBef>
                <a:spcPts val="0"/>
              </a:spcBef>
              <a:spcAft>
                <a:spcPts val="0"/>
              </a:spcAft>
              <a:buNone/>
            </a:pPr>
            <a:endParaRPr lang="en-US"/>
          </a:p>
          <a:p>
            <a:pPr marL="0" lvl="0" indent="0" algn="l" rtl="0">
              <a:spcBef>
                <a:spcPts val="0"/>
              </a:spcBef>
              <a:spcAft>
                <a:spcPts val="0"/>
              </a:spcAft>
              <a:buNone/>
            </a:pPr>
            <a:r>
              <a:rPr lang="en-US"/>
              <a:t>- One Product Backlog and one Sprint Goal focus the entire team</a:t>
            </a:r>
          </a:p>
          <a:p>
            <a:pPr marL="0" lvl="0" indent="0" algn="l" rtl="0">
              <a:spcBef>
                <a:spcPts val="0"/>
              </a:spcBef>
              <a:spcAft>
                <a:spcPts val="0"/>
              </a:spcAft>
              <a:buNone/>
            </a:pPr>
            <a:r>
              <a:rPr lang="en-US"/>
              <a:t>- A visible Definition of Done protects quality and makes progress truthful</a:t>
            </a:r>
          </a:p>
          <a:p>
            <a:pPr marL="0" lvl="0" indent="0" algn="l" rtl="0">
              <a:spcBef>
                <a:spcPts val="0"/>
              </a:spcBef>
              <a:spcAft>
                <a:spcPts val="0"/>
              </a:spcAft>
              <a:buNone/>
            </a:pPr>
            <a:r>
              <a:rPr lang="en-US"/>
              <a:t>- Sprint Reviews invite stakeholder feedback before a feature is scaled</a:t>
            </a:r>
          </a:p>
          <a:p>
            <a:pPr marL="0" lvl="0" indent="0" algn="l" rtl="0">
              <a:spcBef>
                <a:spcPts val="0"/>
              </a:spcBef>
              <a:spcAft>
                <a:spcPts val="0"/>
              </a:spcAft>
              <a:buNone/>
            </a:pPr>
            <a:r>
              <a:rPr lang="en-US"/>
              <a:t>- Retrospectives improve our process, trust, and technical practices</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3c535a6a2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3c535a6a2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Onboarding the Team. Explain the main point in plain language, then connect it to the WorldVisitz mobile-launch scenario. </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58248CF5-EF0C-82B3-5CE7-FADF13EA84B2}"/>
            </a:ext>
          </a:extLst>
        </p:cNvPr>
        <p:cNvGrpSpPr/>
        <p:nvPr/>
      </p:nvGrpSpPr>
      <p:grpSpPr>
        <a:xfrm>
          <a:off x="0" y="0"/>
          <a:ext cx="0" cy="0"/>
          <a:chOff x="0" y="0"/>
          <a:chExt cx="0" cy="0"/>
        </a:xfrm>
      </p:grpSpPr>
      <p:sp>
        <p:nvSpPr>
          <p:cNvPr id="145" name="Google Shape;145;g151e57a7178_0_4:notes">
            <a:extLst>
              <a:ext uri="{FF2B5EF4-FFF2-40B4-BE49-F238E27FC236}">
                <a16:creationId xmlns:a16="http://schemas.microsoft.com/office/drawing/2014/main" id="{66D14103-E92B-9A61-FA9A-26EFE8193D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51e57a7178_0_4:notes">
            <a:extLst>
              <a:ext uri="{FF2B5EF4-FFF2-40B4-BE49-F238E27FC236}">
                <a16:creationId xmlns:a16="http://schemas.microsoft.com/office/drawing/2014/main" id="{B688B029-2248-D7B7-D736-FC178E83D1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Agile gives the team earlier feedback, shared ownership, and safer delivery. Explain the main point in plain language, then connect it to the WorldVisitz mobile-launch scenario. Agile Benefits for the Team The team gains clarity and autonomy by delivering small pieces of customer value together.</a:t>
            </a:r>
          </a:p>
          <a:p>
            <a:pPr marL="0" lvl="0" indent="0" algn="l" rtl="0">
              <a:spcBef>
                <a:spcPts val="0"/>
              </a:spcBef>
              <a:spcAft>
                <a:spcPts val="0"/>
              </a:spcAft>
              <a:buNone/>
            </a:pPr>
            <a:endParaRPr lang="en-US"/>
          </a:p>
          <a:p>
            <a:pPr marL="0" lvl="0" indent="0" algn="l" rtl="0">
              <a:spcBef>
                <a:spcPts val="0"/>
              </a:spcBef>
              <a:spcAft>
                <a:spcPts val="0"/>
              </a:spcAft>
              <a:buNone/>
            </a:pPr>
            <a:r>
              <a:rPr lang="en-US"/>
              <a:t>- Developers, tester, UX, BA, and product leadership collaborate during not after delivery</a:t>
            </a:r>
          </a:p>
          <a:p>
            <a:pPr marL="0" lvl="0" indent="0" algn="l" rtl="0">
              <a:spcBef>
                <a:spcPts val="0"/>
              </a:spcBef>
              <a:spcAft>
                <a:spcPts val="0"/>
              </a:spcAft>
              <a:buNone/>
            </a:pPr>
            <a:r>
              <a:rPr lang="en-US"/>
              <a:t>- Kathy helps define acceptance and automation early, reducing late-test surprises</a:t>
            </a:r>
          </a:p>
          <a:p>
            <a:pPr marL="0" lvl="0" indent="0" algn="l" rtl="0">
              <a:spcBef>
                <a:spcPts val="0"/>
              </a:spcBef>
              <a:spcAft>
                <a:spcPts val="0"/>
              </a:spcAft>
              <a:buNone/>
            </a:pPr>
            <a:r>
              <a:rPr lang="en-US"/>
              <a:t>- James and Holly see working slices early, so customer and SME feedback arrives sooner</a:t>
            </a:r>
          </a:p>
          <a:p>
            <a:pPr marL="0" lvl="0" indent="0" algn="l" rtl="0">
              <a:spcBef>
                <a:spcPts val="0"/>
              </a:spcBef>
              <a:spcAft>
                <a:spcPts val="0"/>
              </a:spcAft>
              <a:buNone/>
            </a:pPr>
            <a:r>
              <a:rPr lang="en-US"/>
              <a:t>- Pairing and shared standards transfer knowledge across USA and India</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extLst>
      <p:ext uri="{BB962C8B-B14F-4D97-AF65-F5344CB8AC3E}">
        <p14:creationId xmlns:p14="http://schemas.microsoft.com/office/powerpoint/2010/main" val="3176406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EB638182-BF9F-4E8C-5D85-B5DDD89400ED}"/>
            </a:ext>
          </a:extLst>
        </p:cNvPr>
        <p:cNvGrpSpPr/>
        <p:nvPr/>
      </p:nvGrpSpPr>
      <p:grpSpPr>
        <a:xfrm>
          <a:off x="0" y="0"/>
          <a:ext cx="0" cy="0"/>
          <a:chOff x="0" y="0"/>
          <a:chExt cx="0" cy="0"/>
        </a:xfrm>
      </p:grpSpPr>
      <p:sp>
        <p:nvSpPr>
          <p:cNvPr id="145" name="Google Shape;145;g151e57a7178_0_4:notes">
            <a:extLst>
              <a:ext uri="{FF2B5EF4-FFF2-40B4-BE49-F238E27FC236}">
                <a16:creationId xmlns:a16="http://schemas.microsoft.com/office/drawing/2014/main" id="{22AACC6F-EBFE-78CF-3142-19228F5A02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51e57a7178_0_4:notes">
            <a:extLst>
              <a:ext uri="{FF2B5EF4-FFF2-40B4-BE49-F238E27FC236}">
                <a16:creationId xmlns:a16="http://schemas.microsoft.com/office/drawing/2014/main" id="{007F181D-2FA7-EC1A-A18A-DC5E235594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Working agreements make distributed collaboration explicit. Explain the main point in plain language, then connect it to the WorldVisitz mobile-launch scenario. Agile Benefits for the Team These agreements support the Agile Manifesto value of individuals and interactions.</a:t>
            </a:r>
          </a:p>
          <a:p>
            <a:pPr marL="0" lvl="0" indent="0" algn="l" rtl="0">
              <a:spcBef>
                <a:spcPts val="0"/>
              </a:spcBef>
              <a:spcAft>
                <a:spcPts val="0"/>
              </a:spcAft>
              <a:buNone/>
            </a:pPr>
            <a:endParaRPr lang="en-US"/>
          </a:p>
          <a:p>
            <a:pPr marL="0" lvl="0" indent="0" algn="l" rtl="0">
              <a:spcBef>
                <a:spcPts val="0"/>
              </a:spcBef>
              <a:spcAft>
                <a:spcPts val="0"/>
              </a:spcAft>
              <a:buNone/>
            </a:pPr>
            <a:r>
              <a:rPr lang="en-US"/>
              <a:t>- No side assignments: Developers pull work toward the Sprint Goal</a:t>
            </a:r>
          </a:p>
          <a:p>
            <a:pPr marL="0" lvl="0" indent="0" algn="l" rtl="0">
              <a:spcBef>
                <a:spcPts val="0"/>
              </a:spcBef>
              <a:spcAft>
                <a:spcPts val="0"/>
              </a:spcAft>
              <a:buNone/>
            </a:pPr>
            <a:r>
              <a:rPr lang="en-US"/>
              <a:t>- Pair across locations; rotate partners to spread domain and technical knowledge</a:t>
            </a:r>
          </a:p>
          <a:p>
            <a:pPr marL="0" lvl="0" indent="0" algn="l" rtl="0">
              <a:spcBef>
                <a:spcPts val="0"/>
              </a:spcBef>
              <a:spcAft>
                <a:spcPts val="0"/>
              </a:spcAft>
              <a:buNone/>
            </a:pPr>
            <a:r>
              <a:rPr lang="en-US"/>
              <a:t>- Review code, automate relevant tests, and integrate before calling work Done</a:t>
            </a:r>
          </a:p>
          <a:p>
            <a:pPr marL="0" lvl="0" indent="0" algn="l" rtl="0">
              <a:spcBef>
                <a:spcPts val="0"/>
              </a:spcBef>
              <a:spcAft>
                <a:spcPts val="0"/>
              </a:spcAft>
              <a:buNone/>
            </a:pPr>
            <a:r>
              <a:rPr lang="en-US"/>
              <a:t>- Raise blockers in the Daily Scrum; document decisions in the shared board</a:t>
            </a:r>
          </a:p>
          <a:p>
            <a:pPr marL="0" lvl="0" indent="0" algn="l" rtl="0">
              <a:spcBef>
                <a:spcPts val="0"/>
              </a:spcBef>
              <a:spcAft>
                <a:spcPts val="0"/>
              </a:spcAft>
              <a:buNone/>
            </a:pPr>
            <a:r>
              <a:rPr lang="en-US"/>
              <a:t>- Invite Holly and other stakeholders to refinement and Sprint Review</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extLst>
      <p:ext uri="{BB962C8B-B14F-4D97-AF65-F5344CB8AC3E}">
        <p14:creationId xmlns:p14="http://schemas.microsoft.com/office/powerpoint/2010/main" val="3010039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51e57a717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51e57a717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Agile Practice. Explain the main point in plain language, then connect it to the WorldVisitz mobile-launch scenario. </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51e57a717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151e57a717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The Sprint Burndown shows whether the team is trending toward the Sprint Goal before the end of the two-week Sprint.. Explain the main point in plain language, then connect it to the WorldVisitz mobile-launch scenario. Radiator 1: Sprint Burndown How to read it</a:t>
            </a:r>
          </a:p>
          <a:p>
            <a:pPr marL="0" lvl="0" indent="0" algn="l" rtl="0">
              <a:spcBef>
                <a:spcPts val="0"/>
              </a:spcBef>
              <a:spcAft>
                <a:spcPts val="0"/>
              </a:spcAft>
              <a:buNone/>
            </a:pPr>
            <a:r>
              <a:rPr lang="en-US"/>
              <a:t>Metric: story points remaining by Sprint day. Developers inspect it in the Daily Scrum; the Scrum Master uses it to surface blockers.</a:t>
            </a:r>
          </a:p>
          <a:p>
            <a:pPr marL="0" lvl="0" indent="0" algn="l" rtl="0">
              <a:spcBef>
                <a:spcPts val="0"/>
              </a:spcBef>
              <a:spcAft>
                <a:spcPts val="0"/>
              </a:spcAft>
              <a:buNone/>
            </a:pPr>
            <a:r>
              <a:rPr lang="en-US"/>
              <a:t>Why it helps</a:t>
            </a:r>
          </a:p>
          <a:p>
            <a:pPr marL="0" lvl="0" indent="0" algn="l" rtl="0">
              <a:spcBef>
                <a:spcPts val="0"/>
              </a:spcBef>
              <a:spcAft>
                <a:spcPts val="0"/>
              </a:spcAft>
              <a:buNone/>
            </a:pPr>
            <a:r>
              <a:rPr lang="en-US"/>
              <a:t>Value: it makes scope growth, slow testing, or blocked integration visible early enough for the Developers to adapt their plan.</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A1445D68-256D-0D67-2A65-176357F9B80B}"/>
            </a:ext>
          </a:extLst>
        </p:cNvPr>
        <p:cNvGrpSpPr/>
        <p:nvPr/>
      </p:nvGrpSpPr>
      <p:grpSpPr>
        <a:xfrm>
          <a:off x="0" y="0"/>
          <a:ext cx="0" cy="0"/>
          <a:chOff x="0" y="0"/>
          <a:chExt cx="0" cy="0"/>
        </a:xfrm>
      </p:grpSpPr>
      <p:sp>
        <p:nvSpPr>
          <p:cNvPr id="159" name="Google Shape;159;g151e57a7178_0_15:notes">
            <a:extLst>
              <a:ext uri="{FF2B5EF4-FFF2-40B4-BE49-F238E27FC236}">
                <a16:creationId xmlns:a16="http://schemas.microsoft.com/office/drawing/2014/main" id="{AC9D53CB-9F07-4E47-7EC9-9E2C3C910D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151e57a7178_0_15:notes">
            <a:extLst>
              <a:ext uri="{FF2B5EF4-FFF2-40B4-BE49-F238E27FC236}">
                <a16:creationId xmlns:a16="http://schemas.microsoft.com/office/drawing/2014/main" id="{8F77D882-C02B-54B0-ABF0-8C915CD374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The cumulative-flow chart shows where work is accumulating from Ready through Build, Test, and Done.. Explain the main point in plain language, then connect it to the WorldVisitz mobile-launch scenario. Radiator 2: Cumulative Flow with WIP limits How to read it</a:t>
            </a:r>
          </a:p>
          <a:p>
            <a:pPr marL="0" lvl="0" indent="0" algn="l" rtl="0">
              <a:spcBef>
                <a:spcPts val="0"/>
              </a:spcBef>
              <a:spcAft>
                <a:spcPts val="0"/>
              </a:spcAft>
              <a:buNone/>
            </a:pPr>
            <a:r>
              <a:rPr lang="en-US"/>
              <a:t>Metric: work-item count by workflow state and item age. Review Build and Test limits daily to protect flow.</a:t>
            </a:r>
          </a:p>
          <a:p>
            <a:pPr marL="0" lvl="0" indent="0" algn="l" rtl="0">
              <a:spcBef>
                <a:spcPts val="0"/>
              </a:spcBef>
              <a:spcAft>
                <a:spcPts val="0"/>
              </a:spcAft>
              <a:buNone/>
            </a:pPr>
            <a:r>
              <a:rPr lang="en-US"/>
              <a:t>Why it helps</a:t>
            </a:r>
          </a:p>
          <a:p>
            <a:pPr marL="0" lvl="0" indent="0" algn="l" rtl="0">
              <a:spcBef>
                <a:spcPts val="0"/>
              </a:spcBef>
              <a:spcAft>
                <a:spcPts val="0"/>
              </a:spcAft>
              <a:buNone/>
            </a:pPr>
            <a:r>
              <a:rPr lang="en-US"/>
              <a:t>Value: it exposes queues so the team can swarm to finish work, reduce cycle time, and communicate reliable flow status to stakeholders.</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extLst>
      <p:ext uri="{BB962C8B-B14F-4D97-AF65-F5344CB8AC3E}">
        <p14:creationId xmlns:p14="http://schemas.microsoft.com/office/powerpoint/2010/main" val="365133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51e57a7178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51e57a717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The schedule follows the Scrum Guide for a two-week Sprint; durations are deliberately short and purposeful. </a:t>
            </a:r>
          </a:p>
          <a:p>
            <a:pPr marL="0" lvl="0" indent="0" algn="l" rtl="0">
              <a:spcBef>
                <a:spcPts val="0"/>
              </a:spcBef>
              <a:spcAft>
                <a:spcPts val="0"/>
              </a:spcAft>
              <a:buNone/>
            </a:pPr>
            <a:r>
              <a:rPr lang="en-US"/>
              <a:t>Scrum events create a predictable inspect-and-adapt rhythm. Explain the main point in plain language, then connect it to the WorldVisitz mobile-launch scenario. Ceremony Schedule &amp; Each Agenda - Sprint Planning | every Sprint | up to 2 hours | set Sprint Goal, select work, plan delivery</a:t>
            </a:r>
          </a:p>
          <a:p>
            <a:pPr marL="0" lvl="0" indent="0" algn="l" rtl="0">
              <a:spcBef>
                <a:spcPts val="0"/>
              </a:spcBef>
              <a:spcAft>
                <a:spcPts val="0"/>
              </a:spcAft>
              <a:buNone/>
            </a:pPr>
            <a:r>
              <a:rPr lang="en-US"/>
              <a:t>- Daily Scrum | every workday | 15 minutes | Developers inspect progress and adapt their plan</a:t>
            </a:r>
          </a:p>
          <a:p>
            <a:pPr marL="0" lvl="0" indent="0" algn="l" rtl="0">
              <a:spcBef>
                <a:spcPts val="0"/>
              </a:spcBef>
              <a:spcAft>
                <a:spcPts val="0"/>
              </a:spcAft>
              <a:buNone/>
            </a:pPr>
            <a:r>
              <a:rPr lang="en-US"/>
              <a:t>- Sprint Review | end of Sprint | up to 90 minutes | inspect the Increment with stakeholders and adapt backlog</a:t>
            </a:r>
          </a:p>
          <a:p>
            <a:pPr marL="0" lvl="0" indent="0" algn="l" rtl="0">
              <a:spcBef>
                <a:spcPts val="0"/>
              </a:spcBef>
              <a:spcAft>
                <a:spcPts val="0"/>
              </a:spcAft>
              <a:buNone/>
            </a:pPr>
            <a:r>
              <a:rPr lang="en-US"/>
              <a:t>- Retrospective | after Review | up to 60 minutes | improve quality, collaboration, and ways of working</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51e57a717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51e57a717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High Performing Agile Teams. Explain the main point in plain language, then connect it to the WorldVisitz mobile-launch scenario. </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51e57a7178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51e57a7178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Role assignments use current strengths while removing functional silos. Explain the main point in plain language, then connect it to the WorldVisitz mobile-launch scenario. Team Composition and Role Assignments Accountability is clear, but everyone contributes to delivering a Done increment.</a:t>
            </a:r>
          </a:p>
          <a:p>
            <a:pPr marL="0" lvl="0" indent="0" algn="l" rtl="0">
              <a:spcBef>
                <a:spcPts val="0"/>
              </a:spcBef>
              <a:spcAft>
                <a:spcPts val="0"/>
              </a:spcAft>
              <a:buNone/>
            </a:pPr>
            <a:endParaRPr lang="en-US"/>
          </a:p>
          <a:p>
            <a:pPr marL="0" lvl="0" indent="0" algn="l" rtl="0">
              <a:spcBef>
                <a:spcPts val="0"/>
              </a:spcBef>
              <a:spcAft>
                <a:spcPts val="0"/>
              </a:spcAft>
              <a:buNone/>
            </a:pPr>
            <a:r>
              <a:rPr lang="en-US"/>
              <a:t>- Product Owner: John Smith orders the Product Backlog and collaborates with customers; Jerry supports analysis and refinement</a:t>
            </a:r>
          </a:p>
          <a:p>
            <a:pPr marL="0" lvl="0" indent="0" algn="l" rtl="0">
              <a:spcBef>
                <a:spcPts val="0"/>
              </a:spcBef>
              <a:spcAft>
                <a:spcPts val="0"/>
              </a:spcAft>
              <a:buNone/>
            </a:pPr>
            <a:r>
              <a:rPr lang="en-US"/>
              <a:t>- Scrum Master: Jane Doe coaches Scrum, removes impediments, and stops command-and-control assignment</a:t>
            </a:r>
          </a:p>
          <a:p>
            <a:pPr marL="0" lvl="0" indent="0" algn="l" rtl="0">
              <a:spcBef>
                <a:spcPts val="0"/>
              </a:spcBef>
              <a:spcAft>
                <a:spcPts val="0"/>
              </a:spcAft>
              <a:buNone/>
            </a:pPr>
            <a:r>
              <a:rPr lang="en-US"/>
              <a:t>- Developers: Jim, Nathan, Venkat, Ali, Kathy, James, and Jerry build, test, design, analyze, and integrate the Increment</a:t>
            </a:r>
          </a:p>
          <a:p>
            <a:pPr marL="0" lvl="0" indent="0" algn="l" rtl="0">
              <a:spcBef>
                <a:spcPts val="0"/>
              </a:spcBef>
              <a:spcAft>
                <a:spcPts val="0"/>
              </a:spcAft>
              <a:buNone/>
            </a:pPr>
            <a:r>
              <a:rPr lang="en-US"/>
              <a:t>- Stakeholder/SME: Holly Vogt provides domain feedback in refinement and Sprint Reviews</a:t>
            </a:r>
          </a:p>
          <a:p>
            <a:pPr marL="0" lvl="0" indent="0" algn="l" rtl="0">
              <a:spcBef>
                <a:spcPts val="0"/>
              </a:spcBef>
              <a:spcAft>
                <a:spcPts val="0"/>
              </a:spcAft>
              <a:buNone/>
            </a:pPr>
            <a:r>
              <a:rPr lang="en-US"/>
              <a:t>- Executives: set outcomes, fund the team, and use Sprint Reviews for evidence-based decisions</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51e57a7178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51e57a7178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notes</a:t>
            </a:r>
          </a:p>
          <a:p>
            <a:pPr marL="0" lvl="0" indent="0" algn="l" rtl="0">
              <a:spcBef>
                <a:spcPts val="0"/>
              </a:spcBef>
              <a:spcAft>
                <a:spcPts val="0"/>
              </a:spcAft>
              <a:buNone/>
            </a:pPr>
            <a:endParaRPr lang="en-US"/>
          </a:p>
          <a:p>
            <a:pPr marL="0" lvl="0" indent="0" algn="l" rtl="0">
              <a:spcBef>
                <a:spcPts val="0"/>
              </a:spcBef>
              <a:spcAft>
                <a:spcPts val="0"/>
              </a:spcAft>
              <a:buNone/>
            </a:pPr>
            <a:r>
              <a:rPr lang="en-US"/>
              <a:t>Use this slide to guide the Agile delivery team through Private notes: current gaps and anti-patterns need direct coaching. Explain the main point in plain language, then connect it to the WorldVisitz mobile-launch scenario. Appendix 1 - Skill Gaps These observations are confidential coaching inputs, not performance labels.</a:t>
            </a:r>
          </a:p>
          <a:p>
            <a:pPr marL="0" lvl="0" indent="0" algn="l" rtl="0">
              <a:spcBef>
                <a:spcPts val="0"/>
              </a:spcBef>
              <a:spcAft>
                <a:spcPts val="0"/>
              </a:spcAft>
              <a:buNone/>
            </a:pPr>
            <a:endParaRPr lang="en-US"/>
          </a:p>
          <a:p>
            <a:pPr marL="0" lvl="0" indent="0" algn="l" rtl="0">
              <a:spcBef>
                <a:spcPts val="0"/>
              </a:spcBef>
              <a:spcAft>
                <a:spcPts val="0"/>
              </a:spcAft>
              <a:buNone/>
            </a:pPr>
            <a:r>
              <a:rPr lang="en-US"/>
              <a:t>- Jane: individual work assignment and scope-control mindset</a:t>
            </a:r>
          </a:p>
          <a:p>
            <a:pPr marL="0" lvl="0" indent="0" algn="l" rtl="0">
              <a:spcBef>
                <a:spcPts val="0"/>
              </a:spcBef>
              <a:spcAft>
                <a:spcPts val="0"/>
              </a:spcAft>
              <a:buNone/>
            </a:pPr>
            <a:r>
              <a:rPr lang="en-US"/>
              <a:t>- John and Jerry: heavy upfront planning; separation from Developers</a:t>
            </a:r>
          </a:p>
          <a:p>
            <a:pPr marL="0" lvl="0" indent="0" algn="l" rtl="0">
              <a:spcBef>
                <a:spcPts val="0"/>
              </a:spcBef>
              <a:spcAft>
                <a:spcPts val="0"/>
              </a:spcAft>
              <a:buNone/>
            </a:pPr>
            <a:r>
              <a:rPr lang="en-US"/>
              <a:t>- Offshore/onshore Developers: complex-work siloing, weak transfer, and low trust</a:t>
            </a:r>
          </a:p>
          <a:p>
            <a:pPr marL="0" lvl="0" indent="0" algn="l" rtl="0">
              <a:spcBef>
                <a:spcPts val="0"/>
              </a:spcBef>
              <a:spcAft>
                <a:spcPts val="0"/>
              </a:spcAft>
              <a:buNone/>
            </a:pPr>
            <a:r>
              <a:rPr lang="en-US"/>
              <a:t>- Kathy: testing starts after development rather than throughout</a:t>
            </a:r>
          </a:p>
          <a:p>
            <a:pPr marL="0" lvl="0" indent="0" algn="l" rtl="0">
              <a:spcBef>
                <a:spcPts val="0"/>
              </a:spcBef>
              <a:spcAft>
                <a:spcPts val="0"/>
              </a:spcAft>
              <a:buNone/>
            </a:pPr>
            <a:r>
              <a:rPr lang="en-US"/>
              <a:t>- Team: inconsistent coding standards, frozen requirements, late UX/customer feedback, and one-to-one SME channels</a:t>
            </a:r>
          </a:p>
          <a:p>
            <a:pPr marL="0" lvl="0" indent="0" algn="l" rtl="0">
              <a:spcBef>
                <a:spcPts val="0"/>
              </a:spcBef>
              <a:spcAft>
                <a:spcPts val="0"/>
              </a:spcAft>
              <a:buNone/>
            </a:pPr>
            <a:endParaRPr lang="en-US"/>
          </a:p>
          <a:p>
            <a:pPr marL="0" lvl="0" indent="0" algn="l" rtl="0">
              <a:spcBef>
                <a:spcPts val="0"/>
              </a:spcBef>
              <a:spcAft>
                <a:spcPts val="0"/>
              </a:spcAft>
              <a:buNone/>
            </a:pPr>
            <a:r>
              <a:rPr lang="en-US"/>
              <a:t>Pause for questions and emphasize how this point supports predictable, value-driven delivery.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51e57a7178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51e57a7178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Presenter notes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Use this slide to guide the Agile delivery team through Private notes: 90-day Shu Ha Ri plan combines team and one-to-one coaching. Explain the main point in plain language, then connect it to the </a:t>
            </a:r>
            <a:r>
              <a:rPr lang="en-US" dirty="0" err="1"/>
              <a:t>WorldVisitz</a:t>
            </a:r>
            <a:r>
              <a:rPr lang="en-US" dirty="0"/>
              <a:t> mobile-launch scenario. Appendix 2 - Training &amp; Coaching Plan The plan moves from following shared practices (Shu), to adapting them with support (Ha), to team-owned improvement (Ri).</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Days 1-30, Shu: whole-team Scrum basics, Definition of Done, coding standards, pairing, refinement; coach Jane and John weekly</a:t>
            </a:r>
          </a:p>
          <a:p>
            <a:pPr marL="0" lvl="0" indent="0" algn="l" rtl="0">
              <a:spcBef>
                <a:spcPts val="0"/>
              </a:spcBef>
              <a:spcAft>
                <a:spcPts val="0"/>
              </a:spcAft>
              <a:buNone/>
            </a:pPr>
            <a:r>
              <a:rPr lang="en-US" dirty="0"/>
              <a:t>- Days 31-60, Ha: rotate pairs, joint test design, mob refinement, WIP review; coach Kathy on shift-left quality and Jerry on outcome-focused analysis</a:t>
            </a:r>
          </a:p>
          <a:p>
            <a:pPr marL="0" lvl="0" indent="0" algn="l" rtl="0">
              <a:spcBef>
                <a:spcPts val="0"/>
              </a:spcBef>
              <a:spcAft>
                <a:spcPts val="0"/>
              </a:spcAft>
              <a:buNone/>
            </a:pPr>
            <a:r>
              <a:rPr lang="en-US" dirty="0"/>
              <a:t>- Days 61-90, Ri: team facilitates events, owns standards, and experiments using radiator evidence; coach Jane on servant leadership and conflict facilitation</a:t>
            </a:r>
          </a:p>
          <a:p>
            <a:pPr marL="0" lvl="0" indent="0" algn="l" rtl="0">
              <a:spcBef>
                <a:spcPts val="0"/>
              </a:spcBef>
              <a:spcAft>
                <a:spcPts val="0"/>
              </a:spcAft>
              <a:buNone/>
            </a:pPr>
            <a:r>
              <a:rPr lang="en-US" dirty="0"/>
              <a:t>- Measure progress: smaller handoffs, more paired work, automated-test coverage, fewer late defects, and retrospective actions completed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Thank everyone for joining and allow </a:t>
            </a:r>
            <a:r>
              <a:rPr lang="en-US"/>
              <a:t>for questions. </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r="7800" b="7535"/>
          <a:stretch/>
        </p:blipFill>
        <p:spPr>
          <a:xfrm>
            <a:off x="6579650" y="2571750"/>
            <a:ext cx="2564400" cy="2571900"/>
          </a:xfrm>
          <a:prstGeom prst="rect">
            <a:avLst/>
          </a:prstGeom>
          <a:noFill/>
          <a:ln>
            <a:noFill/>
          </a:ln>
        </p:spPr>
      </p:pic>
      <p:sp>
        <p:nvSpPr>
          <p:cNvPr id="56" name="Google Shape;56;p14"/>
          <p:cNvSpPr txBox="1">
            <a:spLocks noGrp="1"/>
          </p:cNvSpPr>
          <p:nvPr>
            <p:ph type="title"/>
          </p:nvPr>
        </p:nvSpPr>
        <p:spPr>
          <a:xfrm>
            <a:off x="457200" y="834727"/>
            <a:ext cx="8229600" cy="13893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57" name="Google Shape;57;p14"/>
          <p:cNvSpPr txBox="1">
            <a:spLocks noGrp="1"/>
          </p:cNvSpPr>
          <p:nvPr>
            <p:ph type="body" idx="1"/>
          </p:nvPr>
        </p:nvSpPr>
        <p:spPr>
          <a:xfrm>
            <a:off x="457200" y="2195513"/>
            <a:ext cx="5038800" cy="10035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9pPr>
          </a:lstStyle>
          <a:p>
            <a:endParaRPr/>
          </a:p>
        </p:txBody>
      </p:sp>
      <p:sp>
        <p:nvSpPr>
          <p:cNvPr id="58" name="Google Shape;58;p14"/>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gue" type="tx">
  <p:cSld name="TITLE_AND_BODY">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61" name="Google Shape;61;p15"/>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FFFFFF"/>
        </a:solidFill>
        <a:effectLst/>
      </p:bgPr>
    </p:bg>
    <p:spTree>
      <p:nvGrpSpPr>
        <p:cNvPr id="1" name="Shape 62"/>
        <p:cNvGrpSpPr/>
        <p:nvPr/>
      </p:nvGrpSpPr>
      <p:grpSpPr>
        <a:xfrm>
          <a:off x="0" y="0"/>
          <a:ext cx="0" cy="0"/>
          <a:chOff x="0" y="0"/>
          <a:chExt cx="0" cy="0"/>
        </a:xfrm>
      </p:grpSpPr>
      <p:sp>
        <p:nvSpPr>
          <p:cNvPr id="63" name="Google Shape;63;p16"/>
          <p:cNvSpPr txBox="1">
            <a:spLocks noGrp="1"/>
          </p:cNvSpPr>
          <p:nvPr>
            <p:ph type="body" idx="1"/>
          </p:nvPr>
        </p:nvSpPr>
        <p:spPr>
          <a:xfrm>
            <a:off x="457200" y="914251"/>
            <a:ext cx="8229600" cy="3096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64" name="Google Shape;64;p16"/>
          <p:cNvSpPr txBox="1">
            <a:spLocks noGrp="1"/>
          </p:cNvSpPr>
          <p:nvPr>
            <p:ph type="body" idx="2"/>
          </p:nvPr>
        </p:nvSpPr>
        <p:spPr>
          <a:xfrm>
            <a:off x="457200" y="4914900"/>
            <a:ext cx="3957600" cy="1143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7D97AD"/>
              </a:buClr>
              <a:buSzPts val="500"/>
              <a:buFont typeface="Open Sans"/>
              <a:buNone/>
              <a:defRPr sz="700" b="0" i="0" u="none" strike="noStrike" cap="none">
                <a:solidFill>
                  <a:srgbClr val="7D97AD"/>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65" name="Google Shape;65;p16"/>
          <p:cNvSpPr txBox="1">
            <a:spLocks noGrp="1"/>
          </p:cNvSpPr>
          <p:nvPr>
            <p:ph type="title"/>
          </p:nvPr>
        </p:nvSpPr>
        <p:spPr>
          <a:xfrm>
            <a:off x="457200" y="304800"/>
            <a:ext cx="8229600" cy="5952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0"/>
              </a:spcBef>
              <a:spcAft>
                <a:spcPts val="0"/>
              </a:spcAft>
              <a:buClr>
                <a:srgbClr val="2D3D4A"/>
              </a:buClr>
              <a:buSzPts val="500"/>
              <a:buFont typeface="Open Sans"/>
              <a:buNone/>
              <a:defRPr sz="3600" b="0" i="0"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66" name="Google Shape;66;p16"/>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lvl1pPr marL="0" marR="0" lvl="0"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1pPr>
            <a:lvl2pPr marL="0" marR="0" lvl="1"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2pPr>
            <a:lvl3pPr marL="0" marR="0" lvl="2"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3pPr>
            <a:lvl4pPr marL="0" marR="0" lvl="3"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4pPr>
            <a:lvl5pPr marL="0" marR="0" lvl="4"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5pPr>
            <a:lvl6pPr marL="0" marR="0" lvl="5"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6pPr>
            <a:lvl7pPr marL="0" marR="0" lvl="6"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7pPr>
            <a:lvl8pPr marL="0" marR="0" lvl="7"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8pPr>
            <a:lvl9pPr marL="0" marR="0" lvl="8"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solidFill>
                <a:srgbClr val="929292"/>
              </a:solidFill>
            </a:endParaRPr>
          </a:p>
        </p:txBody>
      </p:sp>
      <p:sp>
        <p:nvSpPr>
          <p:cNvPr id="67" name="Google Shape;67;p16"/>
          <p:cNvSpPr txBox="1">
            <a:spLocks noGrp="1"/>
          </p:cNvSpPr>
          <p:nvPr>
            <p:ph type="body" idx="3"/>
          </p:nvPr>
        </p:nvSpPr>
        <p:spPr>
          <a:xfrm>
            <a:off x="457200" y="1715877"/>
            <a:ext cx="8229600" cy="2857800"/>
          </a:xfrm>
          <a:prstGeom prst="rect">
            <a:avLst/>
          </a:prstGeom>
          <a:noFill/>
          <a:ln>
            <a:noFill/>
          </a:ln>
        </p:spPr>
        <p:txBody>
          <a:bodyPr spcFirstLastPara="1" wrap="square" lIns="34275" tIns="34275" rIns="34275" bIns="34275" anchor="ctr" anchorCtr="0">
            <a:noAutofit/>
          </a:bodyPr>
          <a:lstStyle>
            <a:lvl1pPr marL="457200" marR="0" lvl="0"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gue with Subtitle">
  <p:cSld name="Segue with Subtitle">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70" name="Google Shape;70;p17"/>
          <p:cNvSpPr txBox="1">
            <a:spLocks noGrp="1"/>
          </p:cNvSpPr>
          <p:nvPr>
            <p:ph type="body" idx="1"/>
          </p:nvPr>
        </p:nvSpPr>
        <p:spPr>
          <a:xfrm>
            <a:off x="457200" y="2633663"/>
            <a:ext cx="82296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71" name="Google Shape;71;p17"/>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gue with Subtitle Light">
  <p:cSld name="Segue with Subtitle Light">
    <p:bg>
      <p:bgPr>
        <a:solidFill>
          <a:srgbClr val="02B3E4"/>
        </a:solidFill>
        <a:effectLst/>
      </p:bgPr>
    </p:bg>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74" name="Google Shape;74;p18"/>
          <p:cNvSpPr txBox="1">
            <a:spLocks noGrp="1"/>
          </p:cNvSpPr>
          <p:nvPr>
            <p:ph type="body" idx="1"/>
          </p:nvPr>
        </p:nvSpPr>
        <p:spPr>
          <a:xfrm>
            <a:off x="457200" y="2633663"/>
            <a:ext cx="82296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75" name="Google Shape;75;p18"/>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gue Light">
  <p:cSld name="Segue Light">
    <p:bg>
      <p:bgPr>
        <a:solidFill>
          <a:srgbClr val="02B3E4"/>
        </a:solidFill>
        <a:effectLst/>
      </p:bgPr>
    </p:bg>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78" name="Google Shape;78;p19"/>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Quote">
    <p:bg>
      <p:bgPr>
        <a:solidFill>
          <a:srgbClr val="FFFFFF"/>
        </a:solidFill>
        <a:effectLst/>
      </p:bgPr>
    </p:bg>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457200" y="667978"/>
            <a:ext cx="8229600" cy="2665800"/>
          </a:xfrm>
          <a:prstGeom prst="rect">
            <a:avLst/>
          </a:prstGeom>
          <a:noFill/>
          <a:ln>
            <a:noFill/>
          </a:ln>
        </p:spPr>
        <p:txBody>
          <a:bodyPr spcFirstLastPara="1" wrap="square" lIns="34275" tIns="34275" rIns="34275" bIns="34275" anchor="b" anchorCtr="0">
            <a:noAutofit/>
          </a:bodyPr>
          <a:lstStyle>
            <a:lvl1pPr marL="152400" marR="0" lvl="0" indent="-152400" algn="l" rtl="0">
              <a:lnSpc>
                <a:spcPct val="100000"/>
              </a:lnSpc>
              <a:spcBef>
                <a:spcPts val="0"/>
              </a:spcBef>
              <a:spcAft>
                <a:spcPts val="0"/>
              </a:spcAft>
              <a:buClr>
                <a:srgbClr val="2D3D4A"/>
              </a:buClr>
              <a:buSzPts val="500"/>
              <a:buFont typeface="Open Sans"/>
              <a:buNone/>
              <a:defRPr sz="3600" b="0" i="1"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81" name="Google Shape;81;p20"/>
          <p:cNvSpPr txBox="1">
            <a:spLocks noGrp="1"/>
          </p:cNvSpPr>
          <p:nvPr>
            <p:ph type="body" idx="1"/>
          </p:nvPr>
        </p:nvSpPr>
        <p:spPr>
          <a:xfrm>
            <a:off x="609600" y="3419475"/>
            <a:ext cx="8077200" cy="7449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2pPr>
            <a:lvl3pPr marL="1371600" marR="0" lvl="2"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3pPr>
            <a:lvl4pPr marL="1828800" marR="0" lvl="3"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4pPr>
            <a:lvl5pPr marL="2286000" marR="0" lvl="4"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2" name="Google Shape;82;p20"/>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with Content">
  <p:cSld name="Title with Content">
    <p:bg>
      <p:bgPr>
        <a:solidFill>
          <a:srgbClr val="FFFFFF"/>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body" idx="1"/>
          </p:nvPr>
        </p:nvSpPr>
        <p:spPr>
          <a:xfrm>
            <a:off x="457200" y="914251"/>
            <a:ext cx="8229600" cy="3096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5" name="Google Shape;85;p21"/>
          <p:cNvSpPr txBox="1">
            <a:spLocks noGrp="1"/>
          </p:cNvSpPr>
          <p:nvPr>
            <p:ph type="body" idx="2"/>
          </p:nvPr>
        </p:nvSpPr>
        <p:spPr>
          <a:xfrm>
            <a:off x="457200" y="4914900"/>
            <a:ext cx="3957600" cy="1143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7D97AD"/>
              </a:buClr>
              <a:buSzPts val="500"/>
              <a:buFont typeface="Open Sans"/>
              <a:buNone/>
              <a:defRPr sz="700" b="0" i="0" u="none" strike="noStrike" cap="none">
                <a:solidFill>
                  <a:srgbClr val="7D97AD"/>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6" name="Google Shape;86;p21"/>
          <p:cNvSpPr txBox="1">
            <a:spLocks noGrp="1"/>
          </p:cNvSpPr>
          <p:nvPr>
            <p:ph type="title"/>
          </p:nvPr>
        </p:nvSpPr>
        <p:spPr>
          <a:xfrm>
            <a:off x="457200" y="304800"/>
            <a:ext cx="8229600" cy="5952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0"/>
              </a:spcBef>
              <a:spcAft>
                <a:spcPts val="0"/>
              </a:spcAft>
              <a:buClr>
                <a:srgbClr val="2D3D4A"/>
              </a:buClr>
              <a:buSzPts val="500"/>
              <a:buFont typeface="Open Sans"/>
              <a:buNone/>
              <a:defRPr sz="3600" b="0" i="0"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87" name="Google Shape;87;p21"/>
          <p:cNvSpPr txBox="1">
            <a:spLocks noGrp="1"/>
          </p:cNvSpPr>
          <p:nvPr>
            <p:ph type="body" idx="3"/>
          </p:nvPr>
        </p:nvSpPr>
        <p:spPr>
          <a:xfrm>
            <a:off x="457200" y="1714500"/>
            <a:ext cx="8229600" cy="28575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700"/>
              </a:spcBef>
              <a:spcAft>
                <a:spcPts val="0"/>
              </a:spcAft>
              <a:buClr>
                <a:srgbClr val="2D3D4A"/>
              </a:buClr>
              <a:buSzPts val="1400"/>
              <a:buFont typeface="Open Sans"/>
              <a:buChar char="•"/>
              <a:defRPr sz="1800" b="0" i="0" u="none" strike="noStrike" cap="none">
                <a:solidFill>
                  <a:srgbClr val="2D3D4A"/>
                </a:solidFill>
                <a:latin typeface="Open Sans"/>
                <a:ea typeface="Open Sans"/>
                <a:cs typeface="Open Sans"/>
                <a:sym typeface="Open Sans"/>
              </a:defRPr>
            </a:lvl1pPr>
            <a:lvl2pPr marL="914400" marR="0" lvl="1" indent="-311150" algn="l" rtl="0">
              <a:lnSpc>
                <a:spcPct val="100000"/>
              </a:lnSpc>
              <a:spcBef>
                <a:spcPts val="700"/>
              </a:spcBef>
              <a:spcAft>
                <a:spcPts val="0"/>
              </a:spcAft>
              <a:buClr>
                <a:srgbClr val="2D3D4A"/>
              </a:buClr>
              <a:buSzPts val="1300"/>
              <a:buFont typeface="Open Sans"/>
              <a:buChar char="–"/>
              <a:defRPr sz="1600" b="0" i="0" u="none" strike="noStrike" cap="none">
                <a:solidFill>
                  <a:srgbClr val="2D3D4A"/>
                </a:solidFill>
                <a:latin typeface="Open Sans"/>
                <a:ea typeface="Open Sans"/>
                <a:cs typeface="Open Sans"/>
                <a:sym typeface="Open Sans"/>
              </a:defRPr>
            </a:lvl2pPr>
            <a:lvl3pPr marL="1371600" marR="0" lvl="2"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3pPr>
            <a:lvl4pPr marL="1828800" marR="0" lvl="3"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4pPr>
            <a:lvl5pPr marL="2286000" marR="0" lvl="4"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8" name="Google Shape;88;p21"/>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lvl1pPr marL="0" marR="0" lvl="0"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1pPr>
            <a:lvl2pPr marL="0" marR="0" lvl="1"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2pPr>
            <a:lvl3pPr marL="0" marR="0" lvl="2"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3pPr>
            <a:lvl4pPr marL="0" marR="0" lvl="3"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4pPr>
            <a:lvl5pPr marL="0" marR="0" lvl="4"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5pPr>
            <a:lvl6pPr marL="0" marR="0" lvl="5"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6pPr>
            <a:lvl7pPr marL="0" marR="0" lvl="6"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7pPr>
            <a:lvl8pPr marL="0" marR="0" lvl="7"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8pPr>
            <a:lvl9pPr marL="0" marR="0" lvl="8"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solidFill>
                <a:srgbClr val="929292"/>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p:cSld name="Image">
    <p:bg>
      <p:bgPr>
        <a:solidFill>
          <a:srgbClr val="2D3D4A"/>
        </a:solidFill>
        <a:effectLst/>
      </p:bgPr>
    </p:bg>
    <p:spTree>
      <p:nvGrpSpPr>
        <p:cNvPr id="1" name="Shape 96"/>
        <p:cNvGrpSpPr/>
        <p:nvPr/>
      </p:nvGrpSpPr>
      <p:grpSpPr>
        <a:xfrm>
          <a:off x="0" y="0"/>
          <a:ext cx="0" cy="0"/>
          <a:chOff x="0" y="0"/>
          <a:chExt cx="0" cy="0"/>
        </a:xfrm>
      </p:grpSpPr>
      <p:sp>
        <p:nvSpPr>
          <p:cNvPr id="97" name="Google Shape;97;p23"/>
          <p:cNvSpPr>
            <a:spLocks noGrp="1"/>
          </p:cNvSpPr>
          <p:nvPr>
            <p:ph type="pic" idx="2"/>
          </p:nvPr>
        </p:nvSpPr>
        <p:spPr>
          <a:xfrm>
            <a:off x="0" y="0"/>
            <a:ext cx="9144000" cy="51435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1pPr>
            <a:lvl2pPr marL="0" marR="0" lvl="1"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0" marR="0" lvl="2"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0" marR="0" lvl="3"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0" marR="0" lvl="4"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0" marR="0" lvl="5" indent="5334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0" marR="0" lvl="6" indent="7112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0" marR="0" lvl="7" indent="8890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0" marR="0" lvl="8" indent="10668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98" name="Google Shape;98;p23"/>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emo">
  <p:cSld name="Demo">
    <p:spTree>
      <p:nvGrpSpPr>
        <p:cNvPr id="1" name="Shape 99"/>
        <p:cNvGrpSpPr/>
        <p:nvPr/>
      </p:nvGrpSpPr>
      <p:grpSpPr>
        <a:xfrm>
          <a:off x="0" y="0"/>
          <a:ext cx="0" cy="0"/>
          <a:chOff x="0" y="0"/>
          <a:chExt cx="0" cy="0"/>
        </a:xfrm>
      </p:grpSpPr>
      <p:pic>
        <p:nvPicPr>
          <p:cNvPr id="100" name="Google Shape;100;p24"/>
          <p:cNvPicPr preferRelativeResize="0"/>
          <p:nvPr/>
        </p:nvPicPr>
        <p:blipFill rotWithShape="1">
          <a:blip r:embed="rId2">
            <a:alphaModFix/>
          </a:blip>
          <a:srcRect r="7800" b="7535"/>
          <a:stretch/>
        </p:blipFill>
        <p:spPr>
          <a:xfrm>
            <a:off x="6579650" y="2571750"/>
            <a:ext cx="2564400" cy="2571900"/>
          </a:xfrm>
          <a:prstGeom prst="rect">
            <a:avLst/>
          </a:prstGeom>
          <a:noFill/>
          <a:ln>
            <a:noFill/>
          </a:ln>
        </p:spPr>
      </p:pic>
      <p:sp>
        <p:nvSpPr>
          <p:cNvPr id="101" name="Google Shape;101;p24"/>
          <p:cNvSpPr txBox="1">
            <a:spLocks noGrp="1"/>
          </p:cNvSpPr>
          <p:nvPr>
            <p:ph type="body" idx="1"/>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457200" marR="0" lvl="0" indent="-2286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102" name="Google Shape;102;p24"/>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Logo A Dark">
  <p:cSld name="Logo A Dark">
    <p:spTree>
      <p:nvGrpSpPr>
        <p:cNvPr id="1" name="Shape 103"/>
        <p:cNvGrpSpPr/>
        <p:nvPr/>
      </p:nvGrpSpPr>
      <p:grpSpPr>
        <a:xfrm>
          <a:off x="0" y="0"/>
          <a:ext cx="0" cy="0"/>
          <a:chOff x="0" y="0"/>
          <a:chExt cx="0" cy="0"/>
        </a:xfrm>
      </p:grpSpPr>
      <p:sp>
        <p:nvSpPr>
          <p:cNvPr id="104" name="Google Shape;104;p25"/>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2016 Udacity. All rights reserved.</a:t>
            </a:r>
            <a:endParaRPr sz="500"/>
          </a:p>
        </p:txBody>
      </p:sp>
      <p:sp>
        <p:nvSpPr>
          <p:cNvPr id="105" name="Google Shape;105;p25"/>
          <p:cNvSpPr/>
          <p:nvPr/>
        </p:nvSpPr>
        <p:spPr>
          <a:xfrm>
            <a:off x="3796401" y="3514398"/>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Font typeface="Open Sans"/>
              <a:buNone/>
            </a:pPr>
            <a:r>
              <a:rPr lang="en" sz="1800" b="0" i="0" u="none" strike="noStrike" cap="none">
                <a:solidFill>
                  <a:srgbClr val="FFFFFF"/>
                </a:solidFill>
                <a:latin typeface="Open Sans"/>
                <a:ea typeface="Open Sans"/>
                <a:cs typeface="Open Sans"/>
                <a:sym typeface="Open Sans"/>
              </a:rPr>
              <a:t>Be in Demand</a:t>
            </a:r>
            <a:endParaRPr sz="500"/>
          </a:p>
        </p:txBody>
      </p:sp>
      <p:pic>
        <p:nvPicPr>
          <p:cNvPr id="106" name="Google Shape;106;p25"/>
          <p:cNvPicPr preferRelativeResize="0"/>
          <p:nvPr/>
        </p:nvPicPr>
        <p:blipFill rotWithShape="1">
          <a:blip r:embed="rId2">
            <a:alphaModFix/>
          </a:blip>
          <a:srcRect/>
          <a:stretch/>
        </p:blipFill>
        <p:spPr>
          <a:xfrm>
            <a:off x="3485828" y="1370725"/>
            <a:ext cx="2172300" cy="1941000"/>
          </a:xfrm>
          <a:prstGeom prst="rect">
            <a:avLst/>
          </a:prstGeom>
          <a:noFill/>
          <a:ln>
            <a:noFill/>
          </a:ln>
        </p:spPr>
      </p:pic>
      <p:sp>
        <p:nvSpPr>
          <p:cNvPr id="107" name="Google Shape;107;p25"/>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ogo A Light">
  <p:cSld name="Logo A Light">
    <p:bg>
      <p:bgPr>
        <a:solidFill>
          <a:srgbClr val="02B3E4"/>
        </a:solidFill>
        <a:effectLst/>
      </p:bgPr>
    </p:bg>
    <p:spTree>
      <p:nvGrpSpPr>
        <p:cNvPr id="1" name="Shape 108"/>
        <p:cNvGrpSpPr/>
        <p:nvPr/>
      </p:nvGrpSpPr>
      <p:grpSpPr>
        <a:xfrm>
          <a:off x="0" y="0"/>
          <a:ext cx="0" cy="0"/>
          <a:chOff x="0" y="0"/>
          <a:chExt cx="0" cy="0"/>
        </a:xfrm>
      </p:grpSpPr>
      <p:sp>
        <p:nvSpPr>
          <p:cNvPr id="109" name="Google Shape;109;p26"/>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AFBFC"/>
              </a:buClr>
              <a:buFont typeface="Open Sans"/>
              <a:buNone/>
            </a:pPr>
            <a:r>
              <a:rPr lang="en" sz="700" b="0" i="0" u="none" strike="noStrike" cap="none">
                <a:solidFill>
                  <a:srgbClr val="FAFBFC"/>
                </a:solidFill>
                <a:latin typeface="Open Sans"/>
                <a:ea typeface="Open Sans"/>
                <a:cs typeface="Open Sans"/>
                <a:sym typeface="Open Sans"/>
              </a:rPr>
              <a:t>© 2016 Udacity. All rights reserved.</a:t>
            </a:r>
            <a:endParaRPr sz="500"/>
          </a:p>
        </p:txBody>
      </p:sp>
      <p:sp>
        <p:nvSpPr>
          <p:cNvPr id="110" name="Google Shape;110;p26"/>
          <p:cNvSpPr/>
          <p:nvPr/>
        </p:nvSpPr>
        <p:spPr>
          <a:xfrm>
            <a:off x="3796401" y="3514725"/>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AFBFC"/>
              </a:buClr>
              <a:buFont typeface="Open Sans"/>
              <a:buNone/>
            </a:pPr>
            <a:r>
              <a:rPr lang="en" sz="1800" b="0" i="0" u="none" strike="noStrike" cap="none">
                <a:solidFill>
                  <a:srgbClr val="FAFBFC"/>
                </a:solidFill>
                <a:latin typeface="Open Sans"/>
                <a:ea typeface="Open Sans"/>
                <a:cs typeface="Open Sans"/>
                <a:sym typeface="Open Sans"/>
              </a:rPr>
              <a:t>Be in Demand</a:t>
            </a:r>
            <a:endParaRPr sz="500"/>
          </a:p>
        </p:txBody>
      </p:sp>
      <p:pic>
        <p:nvPicPr>
          <p:cNvPr id="111" name="Google Shape;111;p26"/>
          <p:cNvPicPr preferRelativeResize="0"/>
          <p:nvPr/>
        </p:nvPicPr>
        <p:blipFill rotWithShape="1">
          <a:blip r:embed="rId2">
            <a:alphaModFix/>
          </a:blip>
          <a:srcRect/>
          <a:stretch/>
        </p:blipFill>
        <p:spPr>
          <a:xfrm>
            <a:off x="3485828" y="1370725"/>
            <a:ext cx="2172300" cy="1941000"/>
          </a:xfrm>
          <a:prstGeom prst="rect">
            <a:avLst/>
          </a:prstGeom>
          <a:noFill/>
          <a:ln>
            <a:noFill/>
          </a:ln>
        </p:spPr>
      </p:pic>
      <p:sp>
        <p:nvSpPr>
          <p:cNvPr id="112" name="Google Shape;112;p26"/>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ogo B Dark">
  <p:cSld name="Logo B Dark">
    <p:spTree>
      <p:nvGrpSpPr>
        <p:cNvPr id="1" name="Shape 113"/>
        <p:cNvGrpSpPr/>
        <p:nvPr/>
      </p:nvGrpSpPr>
      <p:grpSpPr>
        <a:xfrm>
          <a:off x="0" y="0"/>
          <a:ext cx="0" cy="0"/>
          <a:chOff x="0" y="0"/>
          <a:chExt cx="0" cy="0"/>
        </a:xfrm>
      </p:grpSpPr>
      <p:sp>
        <p:nvSpPr>
          <p:cNvPr id="114" name="Google Shape;114;p27"/>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2016 Udacity. All rights reserved.</a:t>
            </a:r>
            <a:endParaRPr sz="500"/>
          </a:p>
        </p:txBody>
      </p:sp>
      <p:sp>
        <p:nvSpPr>
          <p:cNvPr id="115" name="Google Shape;115;p27"/>
          <p:cNvSpPr/>
          <p:nvPr/>
        </p:nvSpPr>
        <p:spPr>
          <a:xfrm>
            <a:off x="3796401" y="3048793"/>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Font typeface="Open Sans"/>
              <a:buNone/>
            </a:pPr>
            <a:r>
              <a:rPr lang="en" sz="1800" b="0" i="0" u="none" strike="noStrike" cap="none">
                <a:solidFill>
                  <a:srgbClr val="FFFFFF"/>
                </a:solidFill>
                <a:latin typeface="Open Sans"/>
                <a:ea typeface="Open Sans"/>
                <a:cs typeface="Open Sans"/>
                <a:sym typeface="Open Sans"/>
              </a:rPr>
              <a:t>Be in Demand</a:t>
            </a:r>
            <a:endParaRPr sz="500"/>
          </a:p>
        </p:txBody>
      </p:sp>
      <p:pic>
        <p:nvPicPr>
          <p:cNvPr id="116" name="Google Shape;116;p27"/>
          <p:cNvPicPr preferRelativeResize="0"/>
          <p:nvPr/>
        </p:nvPicPr>
        <p:blipFill rotWithShape="1">
          <a:blip r:embed="rId2">
            <a:alphaModFix/>
          </a:blip>
          <a:srcRect/>
          <a:stretch/>
        </p:blipFill>
        <p:spPr>
          <a:xfrm>
            <a:off x="2500679" y="2221260"/>
            <a:ext cx="4143300" cy="720000"/>
          </a:xfrm>
          <a:prstGeom prst="rect">
            <a:avLst/>
          </a:prstGeom>
          <a:noFill/>
          <a:ln>
            <a:noFill/>
          </a:ln>
        </p:spPr>
      </p:pic>
      <p:sp>
        <p:nvSpPr>
          <p:cNvPr id="117" name="Google Shape;117;p27"/>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ogo B Light">
  <p:cSld name="Logo B Light">
    <p:bg>
      <p:bgPr>
        <a:solidFill>
          <a:srgbClr val="02B3E4"/>
        </a:solidFill>
        <a:effectLst/>
      </p:bgPr>
    </p:bg>
    <p:spTree>
      <p:nvGrpSpPr>
        <p:cNvPr id="1" name="Shape 118"/>
        <p:cNvGrpSpPr/>
        <p:nvPr/>
      </p:nvGrpSpPr>
      <p:grpSpPr>
        <a:xfrm>
          <a:off x="0" y="0"/>
          <a:ext cx="0" cy="0"/>
          <a:chOff x="0" y="0"/>
          <a:chExt cx="0" cy="0"/>
        </a:xfrm>
      </p:grpSpPr>
      <p:sp>
        <p:nvSpPr>
          <p:cNvPr id="119" name="Google Shape;119;p28"/>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AFBFC"/>
              </a:buClr>
              <a:buFont typeface="Open Sans"/>
              <a:buNone/>
            </a:pPr>
            <a:r>
              <a:rPr lang="en" sz="700" b="0" i="0" u="none" strike="noStrike" cap="none">
                <a:solidFill>
                  <a:srgbClr val="FAFBFC"/>
                </a:solidFill>
                <a:latin typeface="Open Sans"/>
                <a:ea typeface="Open Sans"/>
                <a:cs typeface="Open Sans"/>
                <a:sym typeface="Open Sans"/>
              </a:rPr>
              <a:t>© 2016 Udacity. All rights reserved.</a:t>
            </a:r>
            <a:endParaRPr sz="500"/>
          </a:p>
        </p:txBody>
      </p:sp>
      <p:sp>
        <p:nvSpPr>
          <p:cNvPr id="120" name="Google Shape;120;p28"/>
          <p:cNvSpPr/>
          <p:nvPr/>
        </p:nvSpPr>
        <p:spPr>
          <a:xfrm>
            <a:off x="3796401" y="3048793"/>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AFBFC"/>
              </a:buClr>
              <a:buFont typeface="Open Sans"/>
              <a:buNone/>
            </a:pPr>
            <a:r>
              <a:rPr lang="en" sz="1800" b="0" i="0" u="none" strike="noStrike" cap="none">
                <a:solidFill>
                  <a:srgbClr val="FAFBFC"/>
                </a:solidFill>
                <a:latin typeface="Open Sans"/>
                <a:ea typeface="Open Sans"/>
                <a:cs typeface="Open Sans"/>
                <a:sym typeface="Open Sans"/>
              </a:rPr>
              <a:t>Be in Demand</a:t>
            </a:r>
            <a:endParaRPr sz="500"/>
          </a:p>
        </p:txBody>
      </p:sp>
      <p:pic>
        <p:nvPicPr>
          <p:cNvPr id="121" name="Google Shape;121;p28"/>
          <p:cNvPicPr preferRelativeResize="0"/>
          <p:nvPr/>
        </p:nvPicPr>
        <p:blipFill rotWithShape="1">
          <a:blip r:embed="rId2">
            <a:alphaModFix/>
          </a:blip>
          <a:srcRect/>
          <a:stretch/>
        </p:blipFill>
        <p:spPr>
          <a:xfrm>
            <a:off x="2500313" y="2221260"/>
            <a:ext cx="4143300" cy="720000"/>
          </a:xfrm>
          <a:prstGeom prst="rect">
            <a:avLst/>
          </a:prstGeom>
          <a:noFill/>
          <a:ln>
            <a:noFill/>
          </a:ln>
        </p:spPr>
      </p:pic>
      <p:sp>
        <p:nvSpPr>
          <p:cNvPr id="122" name="Google Shape;122;p28"/>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Shape 123"/>
        <p:cNvGrpSpPr/>
        <p:nvPr/>
      </p:nvGrpSpPr>
      <p:grpSpPr>
        <a:xfrm>
          <a:off x="0" y="0"/>
          <a:ext cx="0" cy="0"/>
          <a:chOff x="0" y="0"/>
          <a:chExt cx="0" cy="0"/>
        </a:xfrm>
      </p:grpSpPr>
      <p:sp>
        <p:nvSpPr>
          <p:cNvPr id="124" name="Google Shape;124;p29"/>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2E3D49"/>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52" name="Google Shape;52;p13"/>
          <p:cNvSpPr txBox="1">
            <a:spLocks noGrp="1"/>
          </p:cNvSpPr>
          <p:nvPr>
            <p:ph type="body" idx="1"/>
          </p:nvPr>
        </p:nvSpPr>
        <p:spPr>
          <a:xfrm>
            <a:off x="614363" y="2662238"/>
            <a:ext cx="79152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9pPr>
          </a:lstStyle>
          <a:p>
            <a:endParaRPr/>
          </a:p>
        </p:txBody>
      </p:sp>
      <p:sp>
        <p:nvSpPr>
          <p:cNvPr id="53" name="Google Shape;53;p13"/>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8" r:id="rId9"/>
    <p:sldLayoutId id="2147483669" r:id="rId10"/>
    <p:sldLayoutId id="2147483670" r:id="rId11"/>
    <p:sldLayoutId id="2147483671" r:id="rId12"/>
    <p:sldLayoutId id="2147483672" r:id="rId13"/>
    <p:sldLayoutId id="2147483673" r:id="rId14"/>
    <p:sldLayoutId id="214748367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0"/>
          <p:cNvSpPr txBox="1">
            <a:spLocks noGrp="1"/>
          </p:cNvSpPr>
          <p:nvPr>
            <p:ph type="title"/>
          </p:nvPr>
        </p:nvSpPr>
        <p:spPr>
          <a:xfrm>
            <a:off x="457200" y="834727"/>
            <a:ext cx="8229600" cy="1389300"/>
          </a:xfrm>
          <a:prstGeom prst="rect">
            <a:avLst/>
          </a:prstGeom>
          <a:noFill/>
          <a:ln>
            <a:noFill/>
          </a:ln>
        </p:spPr>
        <p:txBody>
          <a:bodyPr spcFirstLastPara="1" wrap="square" lIns="0" tIns="0" rIns="0" bIns="0" anchor="b" anchorCtr="0">
            <a:noAutofit/>
          </a:bodyPr>
          <a:lstStyle/>
          <a:p>
            <a:pPr marL="0" marR="0" lvl="0" indent="0" algn="l" rtl="0">
              <a:lnSpc>
                <a:spcPct val="120000"/>
              </a:lnSpc>
              <a:spcBef>
                <a:spcPts val="0"/>
              </a:spcBef>
              <a:spcAft>
                <a:spcPts val="0"/>
              </a:spcAft>
              <a:buClr>
                <a:srgbClr val="FFFFFF"/>
              </a:buClr>
              <a:buFont typeface="Open Sans"/>
              <a:buNone/>
            </a:pPr>
            <a:r>
              <a:rPr lang="en" sz="4200"/>
              <a:t>WorldVisitz Mobile Application Agile Delivery Launch</a:t>
            </a:r>
            <a:endParaRPr sz="4200"/>
          </a:p>
        </p:txBody>
      </p:sp>
      <p:sp>
        <p:nvSpPr>
          <p:cNvPr id="130" name="Google Shape;130;p30"/>
          <p:cNvSpPr txBox="1">
            <a:spLocks noGrp="1"/>
          </p:cNvSpPr>
          <p:nvPr>
            <p:ph type="body" idx="1"/>
          </p:nvPr>
        </p:nvSpPr>
        <p:spPr>
          <a:xfrm>
            <a:off x="457200" y="2195525"/>
            <a:ext cx="5900700" cy="1003500"/>
          </a:xfrm>
          <a:prstGeom prst="rect">
            <a:avLst/>
          </a:prstGeom>
          <a:noFill/>
          <a:ln>
            <a:noFill/>
          </a:ln>
        </p:spPr>
        <p:txBody>
          <a:bodyPr spcFirstLastPara="1" wrap="square" lIns="0" tIns="0" rIns="0" bIns="0" anchor="t" anchorCtr="0">
            <a:noAutofit/>
          </a:bodyPr>
          <a:lstStyle/>
          <a:p>
            <a:pPr marL="0" marR="0" lvl="0" indent="0" algn="l" rtl="0">
              <a:lnSpc>
                <a:spcPct val="131250"/>
              </a:lnSpc>
              <a:spcBef>
                <a:spcPts val="0"/>
              </a:spcBef>
              <a:spcAft>
                <a:spcPts val="0"/>
              </a:spcAft>
              <a:buClr>
                <a:srgbClr val="9CBDD8"/>
              </a:buClr>
              <a:buFont typeface="Open Sans"/>
              <a:buNone/>
            </a:pPr>
            <a:r>
              <a:rPr lang="en" dirty="0"/>
              <a:t>Agile Onboarding - Presentation for the Agile Team</a:t>
            </a:r>
            <a:endParaRPr b="1" dirty="0"/>
          </a:p>
          <a:p>
            <a:pPr marL="0" marR="0" lvl="0" indent="0" algn="l" rtl="0">
              <a:lnSpc>
                <a:spcPct val="131250"/>
              </a:lnSpc>
              <a:spcBef>
                <a:spcPts val="0"/>
              </a:spcBef>
              <a:spcAft>
                <a:spcPts val="0"/>
              </a:spcAft>
              <a:buClr>
                <a:srgbClr val="9CBDD8"/>
              </a:buClr>
              <a:buFont typeface="Open Sans"/>
              <a:buNone/>
            </a:pPr>
            <a:endParaRPr b="1" dirty="0"/>
          </a:p>
          <a:p>
            <a:pPr marL="0" marR="0" lvl="0" indent="0" algn="l" rtl="0">
              <a:lnSpc>
                <a:spcPct val="131250"/>
              </a:lnSpc>
              <a:spcBef>
                <a:spcPts val="0"/>
              </a:spcBef>
              <a:spcAft>
                <a:spcPts val="0"/>
              </a:spcAft>
              <a:buClr>
                <a:srgbClr val="9CBDD8"/>
              </a:buClr>
              <a:buFont typeface="Open Sans"/>
              <a:buNone/>
            </a:pPr>
            <a:r>
              <a:rPr lang="en" b="1" dirty="0"/>
              <a:t>Presented by: </a:t>
            </a:r>
            <a:r>
              <a:rPr lang="en-US" b="1" dirty="0"/>
              <a:t>Christopher O’Hara, PhD</a:t>
            </a:r>
            <a:endParaRPr b="1" dirty="0"/>
          </a:p>
          <a:p>
            <a:pPr marL="0" marR="0" lvl="0" indent="0" algn="l" rtl="0">
              <a:lnSpc>
                <a:spcPct val="131250"/>
              </a:lnSpc>
              <a:spcBef>
                <a:spcPts val="0"/>
              </a:spcBef>
              <a:spcAft>
                <a:spcPts val="0"/>
              </a:spcAft>
              <a:buClr>
                <a:srgbClr val="9CBDD8"/>
              </a:buClr>
              <a:buFont typeface="Open Sans"/>
              <a:buNone/>
            </a:pPr>
            <a:endParaRPr sz="500" dirty="0"/>
          </a:p>
        </p:txBody>
      </p:sp>
      <p:sp>
        <p:nvSpPr>
          <p:cNvPr id="131" name="Google Shape;131;p30"/>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2019 Udacity.  All rights reserved.</a:t>
            </a:r>
            <a:endParaRPr sz="500"/>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3"/>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Our shared promise: a usable, tested increment every two weeks</a:t>
            </a:r>
          </a:p>
        </p:txBody>
      </p:sp>
      <p:sp>
        <p:nvSpPr>
          <p:cNvPr id="149" name="Google Shape;149;p33"/>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50" name="Google Shape;150;p33"/>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dirty="0"/>
              <a:t>Agile Onboarding</a:t>
            </a:r>
            <a:endParaRPr dirty="0"/>
          </a:p>
        </p:txBody>
      </p:sp>
      <p:sp>
        <p:nvSpPr>
          <p:cNvPr id="151" name="Google Shape;151;p33"/>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indent="0"/>
            <a:r>
              <a:rPr lang="en-US" sz="1600" dirty="0">
                <a:solidFill>
                  <a:srgbClr val="514231"/>
                </a:solidFill>
                <a:latin typeface="Open Sans" panose="020B0606030504020204" pitchFamily="34" charset="0"/>
              </a:rPr>
              <a:t>We will work as one cross-functional Scrum Team, learning from working software rather than handing work through separate phases.</a:t>
            </a:r>
          </a:p>
          <a:p>
            <a:pPr marL="0" indent="0"/>
            <a:endParaRPr lang="en-US" sz="1600" dirty="0">
              <a:solidFill>
                <a:srgbClr val="514231"/>
              </a:solidFill>
              <a:latin typeface="Open Sans" panose="020B0606030504020204" pitchFamily="34" charset="0"/>
            </a:endParaRPr>
          </a:p>
          <a:p>
            <a:pPr marL="0" indent="0"/>
            <a:r>
              <a:rPr lang="en-US" sz="1600" dirty="0">
                <a:solidFill>
                  <a:srgbClr val="514231"/>
                </a:solidFill>
                <a:latin typeface="Open Sans" panose="020B0606030504020204" pitchFamily="34" charset="0"/>
              </a:rPr>
              <a:t>- One Product Backlog and one Sprint Goal focus the entire team</a:t>
            </a:r>
          </a:p>
          <a:p>
            <a:pPr marL="0" indent="0"/>
            <a:r>
              <a:rPr lang="en-US" sz="1600" dirty="0">
                <a:solidFill>
                  <a:srgbClr val="514231"/>
                </a:solidFill>
                <a:latin typeface="Open Sans" panose="020B0606030504020204" pitchFamily="34" charset="0"/>
              </a:rPr>
              <a:t>- A visible Definition of Done protects quality and makes progress truthful</a:t>
            </a:r>
          </a:p>
          <a:p>
            <a:pPr marL="0" indent="0"/>
            <a:r>
              <a:rPr lang="en-US" sz="1600" dirty="0">
                <a:solidFill>
                  <a:srgbClr val="514231"/>
                </a:solidFill>
                <a:latin typeface="Open Sans" panose="020B0606030504020204" pitchFamily="34" charset="0"/>
              </a:rPr>
              <a:t>- Sprint Reviews invite stakeholder feedback before a feature is scaled</a:t>
            </a:r>
          </a:p>
          <a:p>
            <a:pPr marL="0" indent="0"/>
            <a:r>
              <a:rPr lang="en-US" sz="1600" dirty="0">
                <a:solidFill>
                  <a:srgbClr val="514231"/>
                </a:solidFill>
                <a:latin typeface="Open Sans" panose="020B0606030504020204" pitchFamily="34" charset="0"/>
              </a:rPr>
              <a:t>- Retrospectives improve our process, trust, and technical practices</a:t>
            </a:r>
          </a:p>
          <a:p>
            <a:pPr marL="0" indent="0"/>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2"/>
          <p:cNvSpPr txBox="1">
            <a:spLocks noGrp="1"/>
          </p:cNvSpPr>
          <p:nvPr>
            <p:ph type="title"/>
          </p:nvPr>
        </p:nvSpPr>
        <p:spPr>
          <a:xfrm>
            <a:off x="457200" y="1295400"/>
            <a:ext cx="8229600" cy="1390800"/>
          </a:xfrm>
          <a:prstGeom prst="rect">
            <a:avLst/>
          </a:prstGeom>
        </p:spPr>
        <p:txBody>
          <a:bodyPr spcFirstLastPara="1" wrap="square" lIns="34275" tIns="34275" rIns="34275" bIns="34275" anchor="b" anchorCtr="0">
            <a:noAutofit/>
          </a:bodyPr>
          <a:lstStyle/>
          <a:p>
            <a:pPr marL="0" lvl="0" indent="0" algn="l" rtl="0">
              <a:spcBef>
                <a:spcPts val="0"/>
              </a:spcBef>
              <a:spcAft>
                <a:spcPts val="0"/>
              </a:spcAft>
              <a:buNone/>
            </a:pPr>
            <a:r>
              <a:rPr lang="en" sz="4200"/>
              <a:t>Onboarding the Team</a:t>
            </a:r>
            <a:endParaRPr sz="4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872572E4-ED04-68BE-A425-2D13F2892718}"/>
            </a:ext>
          </a:extLst>
        </p:cNvPr>
        <p:cNvGrpSpPr/>
        <p:nvPr/>
      </p:nvGrpSpPr>
      <p:grpSpPr>
        <a:xfrm>
          <a:off x="0" y="0"/>
          <a:ext cx="0" cy="0"/>
          <a:chOff x="0" y="0"/>
          <a:chExt cx="0" cy="0"/>
        </a:xfrm>
      </p:grpSpPr>
      <p:sp>
        <p:nvSpPr>
          <p:cNvPr id="148" name="Google Shape;148;p33">
            <a:extLst>
              <a:ext uri="{FF2B5EF4-FFF2-40B4-BE49-F238E27FC236}">
                <a16:creationId xmlns:a16="http://schemas.microsoft.com/office/drawing/2014/main" id="{37DD10B8-D8C8-ACE3-5844-DD56050E26C8}"/>
              </a:ext>
            </a:extLst>
          </p:cNvPr>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Agile gives the team earlier feedback, shared ownership, and safer delivery</a:t>
            </a:r>
          </a:p>
          <a:p>
            <a:pPr marL="0" lvl="0" indent="0" algn="l" rtl="0">
              <a:spcBef>
                <a:spcPts val="0"/>
              </a:spcBef>
              <a:spcAft>
                <a:spcPts val="0"/>
              </a:spcAft>
              <a:buNone/>
            </a:pPr>
            <a:endParaRPr dirty="0"/>
          </a:p>
        </p:txBody>
      </p:sp>
      <p:sp>
        <p:nvSpPr>
          <p:cNvPr id="149" name="Google Shape;149;p33">
            <a:extLst>
              <a:ext uri="{FF2B5EF4-FFF2-40B4-BE49-F238E27FC236}">
                <a16:creationId xmlns:a16="http://schemas.microsoft.com/office/drawing/2014/main" id="{28BAF604-17AD-4DBB-5449-307EA97A04B8}"/>
              </a:ext>
            </a:extLst>
          </p:cNvPr>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50" name="Google Shape;150;p33">
            <a:extLst>
              <a:ext uri="{FF2B5EF4-FFF2-40B4-BE49-F238E27FC236}">
                <a16:creationId xmlns:a16="http://schemas.microsoft.com/office/drawing/2014/main" id="{ADFF9D79-3560-8AD3-A8BF-6D67C5691F8E}"/>
              </a:ext>
            </a:extLst>
          </p:cNvPr>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Agile Benefits for the Team</a:t>
            </a:r>
            <a:endParaRPr/>
          </a:p>
        </p:txBody>
      </p:sp>
      <p:sp>
        <p:nvSpPr>
          <p:cNvPr id="151" name="Google Shape;151;p33">
            <a:extLst>
              <a:ext uri="{FF2B5EF4-FFF2-40B4-BE49-F238E27FC236}">
                <a16:creationId xmlns:a16="http://schemas.microsoft.com/office/drawing/2014/main" id="{F9A1FAC6-948A-A777-CAED-E5DEDECCFEDE}"/>
              </a:ext>
            </a:extLst>
          </p:cNvPr>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indent="0"/>
            <a:r>
              <a:rPr lang="en-US" sz="1600" dirty="0">
                <a:solidFill>
                  <a:srgbClr val="514231"/>
                </a:solidFill>
                <a:latin typeface="Open Sans" panose="020B0606030504020204" pitchFamily="34" charset="0"/>
              </a:rPr>
              <a:t>The team gains clarity and autonomy by delivering small pieces of customer value together.</a:t>
            </a:r>
          </a:p>
          <a:p>
            <a:pPr marL="0" indent="0"/>
            <a:endParaRPr lang="en-US" sz="1600" dirty="0">
              <a:solidFill>
                <a:srgbClr val="514231"/>
              </a:solidFill>
              <a:latin typeface="Open Sans" panose="020B0606030504020204" pitchFamily="34" charset="0"/>
            </a:endParaRPr>
          </a:p>
          <a:p>
            <a:pPr marL="0" indent="0"/>
            <a:r>
              <a:rPr lang="en-US" sz="1600" dirty="0">
                <a:solidFill>
                  <a:srgbClr val="514231"/>
                </a:solidFill>
                <a:latin typeface="Open Sans" panose="020B0606030504020204" pitchFamily="34" charset="0"/>
              </a:rPr>
              <a:t>- Developers, tester, UX, BA, and product leadership collaborate during not after delivery</a:t>
            </a:r>
          </a:p>
          <a:p>
            <a:pPr marL="0" indent="0"/>
            <a:r>
              <a:rPr lang="en-US" sz="1600" dirty="0">
                <a:solidFill>
                  <a:srgbClr val="514231"/>
                </a:solidFill>
                <a:latin typeface="Open Sans" panose="020B0606030504020204" pitchFamily="34" charset="0"/>
              </a:rPr>
              <a:t>- Kathy helps define acceptance and automation early, reducing late-test surprises</a:t>
            </a:r>
          </a:p>
          <a:p>
            <a:pPr marL="0" indent="0"/>
            <a:r>
              <a:rPr lang="en-US" sz="1600" dirty="0">
                <a:solidFill>
                  <a:srgbClr val="514231"/>
                </a:solidFill>
                <a:latin typeface="Open Sans" panose="020B0606030504020204" pitchFamily="34" charset="0"/>
              </a:rPr>
              <a:t>- James and Holly see working slices early, so customer and SME feedback arrives sooner</a:t>
            </a:r>
          </a:p>
          <a:p>
            <a:pPr marL="0" indent="0"/>
            <a:r>
              <a:rPr lang="en-US" sz="1600" dirty="0">
                <a:solidFill>
                  <a:srgbClr val="514231"/>
                </a:solidFill>
                <a:latin typeface="Open Sans" panose="020B0606030504020204" pitchFamily="34" charset="0"/>
              </a:rPr>
              <a:t>- Pairing and shared standards transfer knowledge across USA and India</a:t>
            </a:r>
          </a:p>
          <a:p>
            <a:pPr marL="0" lvl="0" indent="0" algn="l" rtl="0">
              <a:spcBef>
                <a:spcPts val="700"/>
              </a:spcBef>
              <a:spcAft>
                <a:spcPts val="0"/>
              </a:spcAft>
              <a:buNone/>
            </a:pPr>
            <a:endParaRPr sz="1600" dirty="0"/>
          </a:p>
        </p:txBody>
      </p:sp>
    </p:spTree>
    <p:extLst>
      <p:ext uri="{BB962C8B-B14F-4D97-AF65-F5344CB8AC3E}">
        <p14:creationId xmlns:p14="http://schemas.microsoft.com/office/powerpoint/2010/main" val="1075277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DEE20003-5175-39B9-ECE7-CF2900496735}"/>
            </a:ext>
          </a:extLst>
        </p:cNvPr>
        <p:cNvGrpSpPr/>
        <p:nvPr/>
      </p:nvGrpSpPr>
      <p:grpSpPr>
        <a:xfrm>
          <a:off x="0" y="0"/>
          <a:ext cx="0" cy="0"/>
          <a:chOff x="0" y="0"/>
          <a:chExt cx="0" cy="0"/>
        </a:xfrm>
      </p:grpSpPr>
      <p:sp>
        <p:nvSpPr>
          <p:cNvPr id="148" name="Google Shape;148;p33">
            <a:extLst>
              <a:ext uri="{FF2B5EF4-FFF2-40B4-BE49-F238E27FC236}">
                <a16:creationId xmlns:a16="http://schemas.microsoft.com/office/drawing/2014/main" id="{E3D351AA-2479-9BE0-3821-309C0FF8F0C5}"/>
              </a:ext>
            </a:extLst>
          </p:cNvPr>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Working agreements make distributed collaboration explicit</a:t>
            </a:r>
          </a:p>
        </p:txBody>
      </p:sp>
      <p:sp>
        <p:nvSpPr>
          <p:cNvPr id="149" name="Google Shape;149;p33">
            <a:extLst>
              <a:ext uri="{FF2B5EF4-FFF2-40B4-BE49-F238E27FC236}">
                <a16:creationId xmlns:a16="http://schemas.microsoft.com/office/drawing/2014/main" id="{67E5CF6A-8101-19EC-C356-3EEB16779D14}"/>
              </a:ext>
            </a:extLst>
          </p:cNvPr>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50" name="Google Shape;150;p33">
            <a:extLst>
              <a:ext uri="{FF2B5EF4-FFF2-40B4-BE49-F238E27FC236}">
                <a16:creationId xmlns:a16="http://schemas.microsoft.com/office/drawing/2014/main" id="{408AC080-A8D7-8AE7-5E56-466B57DE3014}"/>
              </a:ext>
            </a:extLst>
          </p:cNvPr>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Agile Benefits for the Team</a:t>
            </a:r>
            <a:endParaRPr/>
          </a:p>
        </p:txBody>
      </p:sp>
      <p:sp>
        <p:nvSpPr>
          <p:cNvPr id="151" name="Google Shape;151;p33">
            <a:extLst>
              <a:ext uri="{FF2B5EF4-FFF2-40B4-BE49-F238E27FC236}">
                <a16:creationId xmlns:a16="http://schemas.microsoft.com/office/drawing/2014/main" id="{62598C6C-4C70-DC35-FDC5-A9F75836E039}"/>
              </a:ext>
            </a:extLst>
          </p:cNvPr>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indent="0"/>
            <a:r>
              <a:rPr lang="en-US" sz="1600" dirty="0">
                <a:solidFill>
                  <a:srgbClr val="514231"/>
                </a:solidFill>
                <a:latin typeface="Open Sans" panose="020B0606030504020204" pitchFamily="34" charset="0"/>
              </a:rPr>
              <a:t>These agreements support the Agile Manifesto value of individuals and interactions.</a:t>
            </a:r>
          </a:p>
          <a:p>
            <a:pPr marL="0" indent="0"/>
            <a:endParaRPr lang="en-US" sz="1600" dirty="0">
              <a:solidFill>
                <a:srgbClr val="514231"/>
              </a:solidFill>
              <a:latin typeface="Open Sans" panose="020B0606030504020204" pitchFamily="34" charset="0"/>
            </a:endParaRPr>
          </a:p>
          <a:p>
            <a:pPr marL="0" indent="0"/>
            <a:r>
              <a:rPr lang="en-US" sz="1600" dirty="0">
                <a:solidFill>
                  <a:srgbClr val="514231"/>
                </a:solidFill>
                <a:latin typeface="Open Sans" panose="020B0606030504020204" pitchFamily="34" charset="0"/>
              </a:rPr>
              <a:t>- No side assignments: Developers pull work toward the Sprint Goal</a:t>
            </a:r>
          </a:p>
          <a:p>
            <a:pPr marL="0" indent="0"/>
            <a:r>
              <a:rPr lang="en-US" sz="1600" dirty="0">
                <a:solidFill>
                  <a:srgbClr val="514231"/>
                </a:solidFill>
                <a:latin typeface="Open Sans" panose="020B0606030504020204" pitchFamily="34" charset="0"/>
              </a:rPr>
              <a:t>- Pair across locations; rotate partners to spread domain and technical knowledge</a:t>
            </a:r>
          </a:p>
          <a:p>
            <a:pPr marL="0" indent="0"/>
            <a:r>
              <a:rPr lang="en-US" sz="1600" dirty="0">
                <a:solidFill>
                  <a:srgbClr val="514231"/>
                </a:solidFill>
                <a:latin typeface="Open Sans" panose="020B0606030504020204" pitchFamily="34" charset="0"/>
              </a:rPr>
              <a:t>- Review code, automate relevant tests, and integrate before calling work Done</a:t>
            </a:r>
          </a:p>
          <a:p>
            <a:pPr marL="0" indent="0"/>
            <a:r>
              <a:rPr lang="en-US" sz="1600" dirty="0">
                <a:solidFill>
                  <a:srgbClr val="514231"/>
                </a:solidFill>
                <a:latin typeface="Open Sans" panose="020B0606030504020204" pitchFamily="34" charset="0"/>
              </a:rPr>
              <a:t>- Raise blockers in the Daily Scrum; document decisions in the shared board</a:t>
            </a:r>
          </a:p>
          <a:p>
            <a:pPr marL="0" indent="0"/>
            <a:r>
              <a:rPr lang="en-US" sz="1600" dirty="0">
                <a:solidFill>
                  <a:srgbClr val="514231"/>
                </a:solidFill>
                <a:latin typeface="Open Sans" panose="020B0606030504020204" pitchFamily="34" charset="0"/>
              </a:rPr>
              <a:t>- Invite Holly and other stakeholders to refinement and Sprint Review</a:t>
            </a:r>
          </a:p>
          <a:p>
            <a:pPr marL="0" indent="0"/>
            <a:endParaRPr lang="en-US" sz="1600" dirty="0">
              <a:solidFill>
                <a:srgbClr val="514231"/>
              </a:solidFill>
              <a:latin typeface="Open Sans" panose="020B0606030504020204" pitchFamily="34" charset="0"/>
            </a:endParaRPr>
          </a:p>
        </p:txBody>
      </p:sp>
    </p:spTree>
    <p:extLst>
      <p:ext uri="{BB962C8B-B14F-4D97-AF65-F5344CB8AC3E}">
        <p14:creationId xmlns:p14="http://schemas.microsoft.com/office/powerpoint/2010/main" val="1988279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4"/>
          <p:cNvSpPr txBox="1">
            <a:spLocks noGrp="1"/>
          </p:cNvSpPr>
          <p:nvPr>
            <p:ph type="title"/>
          </p:nvPr>
        </p:nvSpPr>
        <p:spPr>
          <a:xfrm>
            <a:off x="457200" y="1295400"/>
            <a:ext cx="8229600" cy="1390800"/>
          </a:xfrm>
          <a:prstGeom prst="rect">
            <a:avLst/>
          </a:prstGeom>
        </p:spPr>
        <p:txBody>
          <a:bodyPr spcFirstLastPara="1" wrap="square" lIns="34275" tIns="34275" rIns="34275" bIns="34275" anchor="b" anchorCtr="0">
            <a:noAutofit/>
          </a:bodyPr>
          <a:lstStyle/>
          <a:p>
            <a:pPr marL="0" lvl="0" indent="0" algn="l" rtl="0">
              <a:spcBef>
                <a:spcPts val="0"/>
              </a:spcBef>
              <a:spcAft>
                <a:spcPts val="0"/>
              </a:spcAft>
              <a:buNone/>
            </a:pPr>
            <a:r>
              <a:rPr lang="en" sz="4200"/>
              <a:t>Agile Practice</a:t>
            </a:r>
            <a:endParaRPr sz="4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5"/>
          <p:cNvSpPr txBox="1">
            <a:spLocks noGrp="1"/>
          </p:cNvSpPr>
          <p:nvPr>
            <p:ph type="body" idx="1"/>
          </p:nvPr>
        </p:nvSpPr>
        <p:spPr>
          <a:xfrm>
            <a:off x="457200" y="1019072"/>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The Sprint Burndown shows whether the team is trending toward the Sprint Goal before the end of the two-week Sprint.</a:t>
            </a:r>
          </a:p>
        </p:txBody>
      </p:sp>
      <p:sp>
        <p:nvSpPr>
          <p:cNvPr id="163" name="Google Shape;163;p35"/>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64" name="Google Shape;164;p35"/>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r>
              <a:rPr lang="en-US" b="1" dirty="0">
                <a:solidFill>
                  <a:srgbClr val="514231"/>
                </a:solidFill>
                <a:latin typeface="Open Sans" panose="020B0606030504020204" pitchFamily="34" charset="0"/>
              </a:rPr>
              <a:t>Radiator 1: Sprint Burndown</a:t>
            </a:r>
          </a:p>
        </p:txBody>
      </p:sp>
      <p:sp>
        <p:nvSpPr>
          <p:cNvPr id="165" name="Google Shape;165;p35"/>
          <p:cNvSpPr txBox="1">
            <a:spLocks noGrp="1"/>
          </p:cNvSpPr>
          <p:nvPr>
            <p:ph type="body" idx="3"/>
          </p:nvPr>
        </p:nvSpPr>
        <p:spPr>
          <a:xfrm>
            <a:off x="457200" y="2029712"/>
            <a:ext cx="2910254" cy="2808987"/>
          </a:xfrm>
          <a:prstGeom prst="rect">
            <a:avLst/>
          </a:prstGeom>
        </p:spPr>
        <p:txBody>
          <a:bodyPr spcFirstLastPara="1" wrap="square" lIns="34275" tIns="34275" rIns="34275" bIns="34275" anchor="ctr" anchorCtr="0">
            <a:noAutofit/>
          </a:bodyPr>
          <a:lstStyle/>
          <a:p>
            <a:pPr marL="0" indent="0"/>
            <a:r>
              <a:rPr lang="en-US" sz="1400" b="1" dirty="0">
                <a:solidFill>
                  <a:srgbClr val="514231"/>
                </a:solidFill>
                <a:latin typeface="Open Sans" panose="020B0606030504020204" pitchFamily="34" charset="0"/>
              </a:rPr>
              <a:t>How to read it</a:t>
            </a:r>
          </a:p>
          <a:p>
            <a:pPr marL="0" indent="0"/>
            <a:r>
              <a:rPr lang="en-US" sz="1400" dirty="0">
                <a:solidFill>
                  <a:srgbClr val="514231"/>
                </a:solidFill>
                <a:latin typeface="Open Sans" panose="020B0606030504020204" pitchFamily="34" charset="0"/>
              </a:rPr>
              <a:t>Metric: story points remaining by Sprint day. Developers inspect it in the Daily Scrum; the Scrum Master uses it to surface blockers.</a:t>
            </a:r>
          </a:p>
          <a:p>
            <a:pPr marL="0" indent="0"/>
            <a:r>
              <a:rPr lang="en-US" sz="1400" b="1" dirty="0">
                <a:solidFill>
                  <a:srgbClr val="514231"/>
                </a:solidFill>
                <a:latin typeface="Open Sans" panose="020B0606030504020204" pitchFamily="34" charset="0"/>
              </a:rPr>
              <a:t>Why it helps</a:t>
            </a:r>
          </a:p>
          <a:p>
            <a:pPr marL="0" indent="0"/>
            <a:r>
              <a:rPr lang="en-US" sz="1400" dirty="0">
                <a:solidFill>
                  <a:srgbClr val="514231"/>
                </a:solidFill>
                <a:latin typeface="Open Sans" panose="020B0606030504020204" pitchFamily="34" charset="0"/>
              </a:rPr>
              <a:t>Value: it makes scope growth, slow testing, or blocked integration visible early enough for the Developers to adapt their plan.</a:t>
            </a:r>
          </a:p>
          <a:p>
            <a:pPr marL="0" lvl="0" indent="0" algn="l" rtl="0">
              <a:spcBef>
                <a:spcPts val="700"/>
              </a:spcBef>
              <a:spcAft>
                <a:spcPts val="0"/>
              </a:spcAft>
              <a:buNone/>
            </a:pPr>
            <a:endParaRPr sz="1400" dirty="0"/>
          </a:p>
        </p:txBody>
      </p:sp>
      <p:pic>
        <p:nvPicPr>
          <p:cNvPr id="3" name="Picture 2">
            <a:extLst>
              <a:ext uri="{FF2B5EF4-FFF2-40B4-BE49-F238E27FC236}">
                <a16:creationId xmlns:a16="http://schemas.microsoft.com/office/drawing/2014/main" id="{F50D92D0-8658-B8CD-0140-F04845A4C22E}"/>
              </a:ext>
            </a:extLst>
          </p:cNvPr>
          <p:cNvPicPr>
            <a:picLocks/>
          </p:cNvPicPr>
          <p:nvPr/>
        </p:nvPicPr>
        <p:blipFill>
          <a:blip r:embed="rId3"/>
          <a:stretch>
            <a:fillRect/>
          </a:stretch>
        </p:blipFill>
        <p:spPr>
          <a:xfrm>
            <a:off x="4121491" y="2022238"/>
            <a:ext cx="4741374" cy="25440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0C134BB6-98F6-360F-7DC2-1E90C6680620}"/>
            </a:ext>
          </a:extLst>
        </p:cNvPr>
        <p:cNvGrpSpPr/>
        <p:nvPr/>
      </p:nvGrpSpPr>
      <p:grpSpPr>
        <a:xfrm>
          <a:off x="0" y="0"/>
          <a:ext cx="0" cy="0"/>
          <a:chOff x="0" y="0"/>
          <a:chExt cx="0" cy="0"/>
        </a:xfrm>
      </p:grpSpPr>
      <p:sp>
        <p:nvSpPr>
          <p:cNvPr id="162" name="Google Shape;162;p35">
            <a:extLst>
              <a:ext uri="{FF2B5EF4-FFF2-40B4-BE49-F238E27FC236}">
                <a16:creationId xmlns:a16="http://schemas.microsoft.com/office/drawing/2014/main" id="{A07431B4-ECE8-8761-C616-E4BEF60E0883}"/>
              </a:ext>
            </a:extLst>
          </p:cNvPr>
          <p:cNvSpPr txBox="1">
            <a:spLocks noGrp="1"/>
          </p:cNvSpPr>
          <p:nvPr>
            <p:ph type="body" idx="1"/>
          </p:nvPr>
        </p:nvSpPr>
        <p:spPr>
          <a:xfrm>
            <a:off x="457200" y="1019072"/>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The cumulative-flow chart shows where work is accumulating from Ready through Build, Test, and Done.</a:t>
            </a:r>
          </a:p>
        </p:txBody>
      </p:sp>
      <p:sp>
        <p:nvSpPr>
          <p:cNvPr id="163" name="Google Shape;163;p35">
            <a:extLst>
              <a:ext uri="{FF2B5EF4-FFF2-40B4-BE49-F238E27FC236}">
                <a16:creationId xmlns:a16="http://schemas.microsoft.com/office/drawing/2014/main" id="{77813383-91F5-EC41-FAAF-D39CEFDB6B47}"/>
              </a:ext>
            </a:extLst>
          </p:cNvPr>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64" name="Google Shape;164;p35">
            <a:extLst>
              <a:ext uri="{FF2B5EF4-FFF2-40B4-BE49-F238E27FC236}">
                <a16:creationId xmlns:a16="http://schemas.microsoft.com/office/drawing/2014/main" id="{1DADB6DF-58D8-2173-D936-B992301D6A7B}"/>
              </a:ext>
            </a:extLst>
          </p:cNvPr>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r>
              <a:rPr lang="en-US" sz="2800" b="1" dirty="0">
                <a:solidFill>
                  <a:srgbClr val="514231"/>
                </a:solidFill>
                <a:latin typeface="Open Sans" panose="020B0606030504020204" pitchFamily="34" charset="0"/>
              </a:rPr>
              <a:t>Radiator 2: Cumulative Flow with WIP limits</a:t>
            </a:r>
          </a:p>
        </p:txBody>
      </p:sp>
      <p:sp>
        <p:nvSpPr>
          <p:cNvPr id="165" name="Google Shape;165;p35">
            <a:extLst>
              <a:ext uri="{FF2B5EF4-FFF2-40B4-BE49-F238E27FC236}">
                <a16:creationId xmlns:a16="http://schemas.microsoft.com/office/drawing/2014/main" id="{A3AE75D9-93A9-4A34-E710-C5C8114854AA}"/>
              </a:ext>
            </a:extLst>
          </p:cNvPr>
          <p:cNvSpPr txBox="1">
            <a:spLocks noGrp="1"/>
          </p:cNvSpPr>
          <p:nvPr>
            <p:ph type="body" idx="3"/>
          </p:nvPr>
        </p:nvSpPr>
        <p:spPr>
          <a:xfrm>
            <a:off x="457200" y="2029712"/>
            <a:ext cx="2910254" cy="2808987"/>
          </a:xfrm>
          <a:prstGeom prst="rect">
            <a:avLst/>
          </a:prstGeom>
        </p:spPr>
        <p:txBody>
          <a:bodyPr spcFirstLastPara="1" wrap="square" lIns="34275" tIns="34275" rIns="34275" bIns="34275" anchor="ctr" anchorCtr="0">
            <a:noAutofit/>
          </a:bodyPr>
          <a:lstStyle/>
          <a:p>
            <a:pPr marL="0" indent="0"/>
            <a:r>
              <a:rPr lang="en-US" sz="1400" b="1" dirty="0">
                <a:solidFill>
                  <a:srgbClr val="514231"/>
                </a:solidFill>
                <a:latin typeface="Open Sans" panose="020B0606030504020204" pitchFamily="34" charset="0"/>
              </a:rPr>
              <a:t>How to read it</a:t>
            </a:r>
          </a:p>
          <a:p>
            <a:pPr marL="0" indent="0"/>
            <a:r>
              <a:rPr lang="en-US" sz="1400" dirty="0">
                <a:solidFill>
                  <a:srgbClr val="514231"/>
                </a:solidFill>
                <a:latin typeface="Open Sans" panose="020B0606030504020204" pitchFamily="34" charset="0"/>
              </a:rPr>
              <a:t>Metric: work-item count by workflow state and item age. Review Build and Test limits daily to protect flow.</a:t>
            </a:r>
          </a:p>
          <a:p>
            <a:pPr marL="0" indent="0"/>
            <a:r>
              <a:rPr lang="en-US" sz="1400" b="1" dirty="0">
                <a:solidFill>
                  <a:srgbClr val="514231"/>
                </a:solidFill>
                <a:latin typeface="Open Sans" panose="020B0606030504020204" pitchFamily="34" charset="0"/>
              </a:rPr>
              <a:t>Why it helps</a:t>
            </a:r>
          </a:p>
          <a:p>
            <a:pPr marL="0" indent="0"/>
            <a:r>
              <a:rPr lang="en-US" sz="1400" dirty="0">
                <a:solidFill>
                  <a:srgbClr val="514231"/>
                </a:solidFill>
                <a:latin typeface="Open Sans" panose="020B0606030504020204" pitchFamily="34" charset="0"/>
              </a:rPr>
              <a:t>Value: it exposes queues so the team can swarm to finish work, reduce cycle time, and communicate reliable flow status to stakeholders.</a:t>
            </a:r>
          </a:p>
          <a:p>
            <a:pPr marL="0" lvl="0" indent="0" algn="l" rtl="0">
              <a:spcBef>
                <a:spcPts val="700"/>
              </a:spcBef>
              <a:spcAft>
                <a:spcPts val="0"/>
              </a:spcAft>
              <a:buNone/>
            </a:pPr>
            <a:endParaRPr sz="1400" dirty="0"/>
          </a:p>
        </p:txBody>
      </p:sp>
      <p:pic>
        <p:nvPicPr>
          <p:cNvPr id="6" name="Picture 5">
            <a:extLst>
              <a:ext uri="{FF2B5EF4-FFF2-40B4-BE49-F238E27FC236}">
                <a16:creationId xmlns:a16="http://schemas.microsoft.com/office/drawing/2014/main" id="{A9397EEA-7074-4141-991F-ADAC07A135D9}"/>
              </a:ext>
            </a:extLst>
          </p:cNvPr>
          <p:cNvPicPr>
            <a:picLocks/>
          </p:cNvPicPr>
          <p:nvPr/>
        </p:nvPicPr>
        <p:blipFill>
          <a:blip r:embed="rId3"/>
          <a:stretch>
            <a:fillRect/>
          </a:stretch>
        </p:blipFill>
        <p:spPr>
          <a:xfrm>
            <a:off x="4109756" y="1903534"/>
            <a:ext cx="4577044" cy="2677258"/>
          </a:xfrm>
          <a:prstGeom prst="rect">
            <a:avLst/>
          </a:prstGeom>
        </p:spPr>
      </p:pic>
    </p:spTree>
    <p:extLst>
      <p:ext uri="{BB962C8B-B14F-4D97-AF65-F5344CB8AC3E}">
        <p14:creationId xmlns:p14="http://schemas.microsoft.com/office/powerpoint/2010/main" val="2203455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6"/>
          <p:cNvSpPr txBox="1">
            <a:spLocks noGrp="1"/>
          </p:cNvSpPr>
          <p:nvPr>
            <p:ph type="body" idx="1"/>
          </p:nvPr>
        </p:nvSpPr>
        <p:spPr>
          <a:xfrm>
            <a:off x="457200" y="899998"/>
            <a:ext cx="8229600" cy="780900"/>
          </a:xfrm>
          <a:prstGeom prst="rect">
            <a:avLst/>
          </a:prstGeom>
        </p:spPr>
        <p:txBody>
          <a:bodyPr spcFirstLastPara="1" wrap="square" lIns="34275" tIns="34275" rIns="34275" bIns="34275" anchor="t" anchorCtr="0">
            <a:noAutofit/>
          </a:bodyPr>
          <a:lstStyle/>
          <a:p>
            <a:pPr marL="457200" lvl="0" indent="-260350" algn="l" rtl="0">
              <a:spcBef>
                <a:spcPts val="0"/>
              </a:spcBef>
              <a:spcAft>
                <a:spcPts val="0"/>
              </a:spcAft>
              <a:buSzPts val="500"/>
              <a:buChar char="●"/>
            </a:pPr>
            <a:r>
              <a:rPr lang="en-US" dirty="0"/>
              <a:t>The schedule follows the Scrum Guide for a two-week Sprint; durations are deliberately short and purposeful. </a:t>
            </a:r>
          </a:p>
          <a:p>
            <a:pPr marL="457200" lvl="0" indent="-260350" algn="l" rtl="0">
              <a:spcBef>
                <a:spcPts val="0"/>
              </a:spcBef>
              <a:spcAft>
                <a:spcPts val="0"/>
              </a:spcAft>
              <a:buSzPts val="500"/>
              <a:buChar char="●"/>
            </a:pPr>
            <a:r>
              <a:rPr lang="en-US" dirty="0"/>
              <a:t>Scrum events create a predictable inspect-and-adapt rhythm</a:t>
            </a:r>
          </a:p>
          <a:p>
            <a:pPr marL="457200" lvl="0" indent="-260350" algn="l" rtl="0">
              <a:spcBef>
                <a:spcPts val="0"/>
              </a:spcBef>
              <a:spcAft>
                <a:spcPts val="0"/>
              </a:spcAft>
              <a:buSzPts val="500"/>
              <a:buChar char="●"/>
            </a:pPr>
            <a:endParaRPr lang="en-US" dirty="0"/>
          </a:p>
          <a:p>
            <a:pPr marL="457200" lvl="0" indent="-260350" algn="l" rtl="0">
              <a:spcBef>
                <a:spcPts val="0"/>
              </a:spcBef>
              <a:spcAft>
                <a:spcPts val="0"/>
              </a:spcAft>
              <a:buSzPts val="500"/>
              <a:buChar char="●"/>
            </a:pPr>
            <a:endParaRPr lang="en-US" dirty="0"/>
          </a:p>
        </p:txBody>
      </p:sp>
      <p:sp>
        <p:nvSpPr>
          <p:cNvPr id="172" name="Google Shape;172;p36"/>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73" name="Google Shape;173;p36"/>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Ceremony Schedule &amp; Each Agenda</a:t>
            </a:r>
            <a:endParaRPr/>
          </a:p>
        </p:txBody>
      </p:sp>
      <p:sp>
        <p:nvSpPr>
          <p:cNvPr id="174" name="Google Shape;174;p36"/>
          <p:cNvSpPr txBox="1">
            <a:spLocks noGrp="1"/>
          </p:cNvSpPr>
          <p:nvPr>
            <p:ph type="body" idx="3"/>
          </p:nvPr>
        </p:nvSpPr>
        <p:spPr>
          <a:xfrm>
            <a:off x="457200" y="1898251"/>
            <a:ext cx="8229600" cy="2675400"/>
          </a:xfrm>
          <a:prstGeom prst="rect">
            <a:avLst/>
          </a:prstGeom>
        </p:spPr>
        <p:txBody>
          <a:bodyPr spcFirstLastPara="1" wrap="square" lIns="34275" tIns="34275" rIns="34275" bIns="34275" anchor="ctr" anchorCtr="0">
            <a:noAutofit/>
          </a:bodyPr>
          <a:lstStyle/>
          <a:p>
            <a:pPr marL="0" indent="0"/>
            <a:r>
              <a:rPr lang="en-US" sz="1400" dirty="0">
                <a:solidFill>
                  <a:srgbClr val="514231"/>
                </a:solidFill>
                <a:latin typeface="Open Sans" panose="020B0606030504020204" pitchFamily="34" charset="0"/>
              </a:rPr>
              <a:t>- Sprint Planning | every Sprint | up to 2 hours | set Sprint Goal, select work, plan delivery</a:t>
            </a:r>
          </a:p>
          <a:p>
            <a:pPr marL="0" indent="0"/>
            <a:r>
              <a:rPr lang="en-US" sz="1400" dirty="0">
                <a:solidFill>
                  <a:srgbClr val="514231"/>
                </a:solidFill>
                <a:latin typeface="Open Sans" panose="020B0606030504020204" pitchFamily="34" charset="0"/>
              </a:rPr>
              <a:t>- Daily Scrum | every workday | 15 minutes | Developers inspect progress and adapt their plan</a:t>
            </a:r>
          </a:p>
          <a:p>
            <a:pPr marL="0" indent="0"/>
            <a:r>
              <a:rPr lang="en-US" sz="1400" dirty="0">
                <a:solidFill>
                  <a:srgbClr val="514231"/>
                </a:solidFill>
                <a:latin typeface="Open Sans" panose="020B0606030504020204" pitchFamily="34" charset="0"/>
              </a:rPr>
              <a:t>- Sprint Review | end of Sprint | up to 90 minutes | inspect the Increment with stakeholders and adapt backlog</a:t>
            </a:r>
          </a:p>
          <a:p>
            <a:pPr marL="0" indent="0"/>
            <a:r>
              <a:rPr lang="en-US" sz="1400" dirty="0">
                <a:solidFill>
                  <a:srgbClr val="514231"/>
                </a:solidFill>
                <a:latin typeface="Open Sans" panose="020B0606030504020204" pitchFamily="34" charset="0"/>
              </a:rPr>
              <a:t>- Retrospective | after Review | up to 60 minutes | improve quality, collaboration, and ways of working</a:t>
            </a:r>
          </a:p>
          <a:p>
            <a:pPr marL="0" lvl="0" indent="0" algn="l" rtl="0">
              <a:spcBef>
                <a:spcPts val="700"/>
              </a:spcBef>
              <a:spcAft>
                <a:spcPts val="0"/>
              </a:spcAft>
              <a:buNone/>
            </a:pPr>
            <a:endParaRPr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7"/>
          <p:cNvSpPr txBox="1">
            <a:spLocks noGrp="1"/>
          </p:cNvSpPr>
          <p:nvPr>
            <p:ph type="title"/>
          </p:nvPr>
        </p:nvSpPr>
        <p:spPr>
          <a:xfrm>
            <a:off x="457200" y="1295400"/>
            <a:ext cx="8229600" cy="1390800"/>
          </a:xfrm>
          <a:prstGeom prst="rect">
            <a:avLst/>
          </a:prstGeom>
        </p:spPr>
        <p:txBody>
          <a:bodyPr spcFirstLastPara="1" wrap="square" lIns="34275" tIns="34275" rIns="34275" bIns="34275" anchor="b" anchorCtr="0">
            <a:noAutofit/>
          </a:bodyPr>
          <a:lstStyle/>
          <a:p>
            <a:pPr marL="0" lvl="0" indent="0" algn="l" rtl="0">
              <a:spcBef>
                <a:spcPts val="0"/>
              </a:spcBef>
              <a:spcAft>
                <a:spcPts val="0"/>
              </a:spcAft>
              <a:buNone/>
            </a:pPr>
            <a:r>
              <a:rPr lang="en" sz="4200"/>
              <a:t>High Performing Agile Teams</a:t>
            </a:r>
            <a:endParaRPr sz="4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8"/>
          <p:cNvSpPr txBox="1">
            <a:spLocks noGrp="1"/>
          </p:cNvSpPr>
          <p:nvPr>
            <p:ph type="body" idx="1"/>
          </p:nvPr>
        </p:nvSpPr>
        <p:spPr>
          <a:xfrm>
            <a:off x="457200" y="13714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Role assignments use current strengths while removing functional silos</a:t>
            </a:r>
          </a:p>
          <a:p>
            <a:pPr marL="0" lvl="0" indent="0" algn="l" rtl="0">
              <a:spcBef>
                <a:spcPts val="0"/>
              </a:spcBef>
              <a:spcAft>
                <a:spcPts val="0"/>
              </a:spcAft>
              <a:buNone/>
            </a:pPr>
            <a:endParaRPr lang="en-US" dirty="0"/>
          </a:p>
        </p:txBody>
      </p:sp>
      <p:sp>
        <p:nvSpPr>
          <p:cNvPr id="186" name="Google Shape;186;p38"/>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87" name="Google Shape;187;p38"/>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Team Composition and Role Assignments</a:t>
            </a:r>
            <a:endParaRPr/>
          </a:p>
        </p:txBody>
      </p:sp>
      <p:sp>
        <p:nvSpPr>
          <p:cNvPr id="188" name="Google Shape;188;p38"/>
          <p:cNvSpPr txBox="1">
            <a:spLocks noGrp="1"/>
          </p:cNvSpPr>
          <p:nvPr>
            <p:ph type="body" idx="3"/>
          </p:nvPr>
        </p:nvSpPr>
        <p:spPr>
          <a:xfrm>
            <a:off x="457200" y="1881554"/>
            <a:ext cx="8229600" cy="2692371"/>
          </a:xfrm>
          <a:prstGeom prst="rect">
            <a:avLst/>
          </a:prstGeom>
        </p:spPr>
        <p:txBody>
          <a:bodyPr spcFirstLastPara="1" wrap="square" lIns="34275" tIns="34275" rIns="34275" bIns="34275" anchor="ctr" anchorCtr="0">
            <a:noAutofit/>
          </a:bodyPr>
          <a:lstStyle/>
          <a:p>
            <a:pPr marL="0" indent="0"/>
            <a:r>
              <a:rPr lang="en-US" sz="1400" dirty="0">
                <a:solidFill>
                  <a:srgbClr val="514231"/>
                </a:solidFill>
                <a:latin typeface="Open Sans" panose="020B0606030504020204" pitchFamily="34" charset="0"/>
              </a:rPr>
              <a:t>Accountability is clear, but everyone contributes to delivering a Done increment.</a:t>
            </a:r>
          </a:p>
          <a:p>
            <a:pPr marL="0" indent="0"/>
            <a:endParaRPr lang="en-US" sz="1400" dirty="0">
              <a:solidFill>
                <a:srgbClr val="514231"/>
              </a:solidFill>
              <a:latin typeface="Open Sans" panose="020B0606030504020204" pitchFamily="34" charset="0"/>
            </a:endParaRPr>
          </a:p>
          <a:p>
            <a:pPr marL="0" indent="0"/>
            <a:r>
              <a:rPr lang="en-US" sz="1400" dirty="0">
                <a:solidFill>
                  <a:srgbClr val="514231"/>
                </a:solidFill>
                <a:latin typeface="Open Sans" panose="020B0606030504020204" pitchFamily="34" charset="0"/>
              </a:rPr>
              <a:t>- Product Owner: John Smith orders the Product Backlog and collaborates with customers; Jerry supports analysis and refinement</a:t>
            </a:r>
          </a:p>
          <a:p>
            <a:pPr marL="0" indent="0"/>
            <a:r>
              <a:rPr lang="en-US" sz="1400" dirty="0">
                <a:solidFill>
                  <a:srgbClr val="514231"/>
                </a:solidFill>
                <a:latin typeface="Open Sans" panose="020B0606030504020204" pitchFamily="34" charset="0"/>
              </a:rPr>
              <a:t>- Scrum Master: Jane Doe coaches Scrum, removes impediments, and stops command-and-control assignment</a:t>
            </a:r>
          </a:p>
          <a:p>
            <a:pPr marL="0" indent="0"/>
            <a:r>
              <a:rPr lang="en-US" sz="1400" dirty="0">
                <a:solidFill>
                  <a:srgbClr val="514231"/>
                </a:solidFill>
                <a:latin typeface="Open Sans" panose="020B0606030504020204" pitchFamily="34" charset="0"/>
              </a:rPr>
              <a:t>- Developers: Jim, Nathan, Venkat, Ali, Kathy, James, and Jerry build, test, design, analyze, and integrate the Increment</a:t>
            </a:r>
          </a:p>
          <a:p>
            <a:pPr marL="0" indent="0"/>
            <a:r>
              <a:rPr lang="en-US" sz="1400" dirty="0">
                <a:solidFill>
                  <a:srgbClr val="514231"/>
                </a:solidFill>
                <a:latin typeface="Open Sans" panose="020B0606030504020204" pitchFamily="34" charset="0"/>
              </a:rPr>
              <a:t>- Stakeholder/SME: Holly Vogt provides domain feedback in refinement and Sprint Reviews</a:t>
            </a:r>
          </a:p>
          <a:p>
            <a:pPr marL="0" indent="0"/>
            <a:r>
              <a:rPr lang="en-US" sz="1400" dirty="0">
                <a:solidFill>
                  <a:srgbClr val="514231"/>
                </a:solidFill>
                <a:latin typeface="Open Sans" panose="020B0606030504020204" pitchFamily="34" charset="0"/>
              </a:rPr>
              <a:t>- Executives: set outcomes, fund the team, and use Sprint Reviews for evidence-based decisions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9"/>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Private notes: current gaps and anti-patterns need direct coaching</a:t>
            </a:r>
          </a:p>
        </p:txBody>
      </p:sp>
      <p:sp>
        <p:nvSpPr>
          <p:cNvPr id="195" name="Google Shape;195;p39"/>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96" name="Google Shape;196;p39"/>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Appendix 1 - Skill Gaps</a:t>
            </a:r>
            <a:endParaRPr/>
          </a:p>
        </p:txBody>
      </p:sp>
      <p:sp>
        <p:nvSpPr>
          <p:cNvPr id="197" name="Google Shape;197;p39"/>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indent="0"/>
            <a:r>
              <a:rPr lang="en-US" sz="1600" dirty="0">
                <a:solidFill>
                  <a:srgbClr val="514231"/>
                </a:solidFill>
                <a:latin typeface="Open Sans" panose="020B0606030504020204" pitchFamily="34" charset="0"/>
              </a:rPr>
              <a:t>These observations are confidential coaching inputs, not performance labels.</a:t>
            </a:r>
          </a:p>
          <a:p>
            <a:pPr marL="0" indent="0"/>
            <a:endParaRPr lang="en-US" sz="1600" dirty="0">
              <a:solidFill>
                <a:srgbClr val="514231"/>
              </a:solidFill>
              <a:latin typeface="Open Sans" panose="020B0606030504020204" pitchFamily="34" charset="0"/>
            </a:endParaRPr>
          </a:p>
          <a:p>
            <a:pPr marL="0" indent="0"/>
            <a:r>
              <a:rPr lang="en-US" sz="1600" dirty="0">
                <a:solidFill>
                  <a:srgbClr val="514231"/>
                </a:solidFill>
                <a:latin typeface="Open Sans" panose="020B0606030504020204" pitchFamily="34" charset="0"/>
              </a:rPr>
              <a:t>- Jane: individual work assignment and scope-control mindset</a:t>
            </a:r>
          </a:p>
          <a:p>
            <a:pPr marL="0" indent="0"/>
            <a:r>
              <a:rPr lang="en-US" sz="1600" dirty="0">
                <a:solidFill>
                  <a:srgbClr val="514231"/>
                </a:solidFill>
                <a:latin typeface="Open Sans" panose="020B0606030504020204" pitchFamily="34" charset="0"/>
              </a:rPr>
              <a:t>- John and Jerry: heavy upfront planning; separation from Developers</a:t>
            </a:r>
          </a:p>
          <a:p>
            <a:pPr marL="0" indent="0"/>
            <a:r>
              <a:rPr lang="en-US" sz="1600" dirty="0">
                <a:solidFill>
                  <a:srgbClr val="514231"/>
                </a:solidFill>
                <a:latin typeface="Open Sans" panose="020B0606030504020204" pitchFamily="34" charset="0"/>
              </a:rPr>
              <a:t>- Offshore/onshore Developers: complex-work siloing, weak transfer, and low trust</a:t>
            </a:r>
          </a:p>
          <a:p>
            <a:pPr marL="0" indent="0"/>
            <a:r>
              <a:rPr lang="en-US" sz="1600" dirty="0">
                <a:solidFill>
                  <a:srgbClr val="514231"/>
                </a:solidFill>
                <a:latin typeface="Open Sans" panose="020B0606030504020204" pitchFamily="34" charset="0"/>
              </a:rPr>
              <a:t>- Kathy: testing starts after development rather than throughout</a:t>
            </a:r>
          </a:p>
          <a:p>
            <a:pPr marL="0" indent="0"/>
            <a:r>
              <a:rPr lang="en-US" sz="1600" dirty="0">
                <a:solidFill>
                  <a:srgbClr val="514231"/>
                </a:solidFill>
                <a:latin typeface="Open Sans" panose="020B0606030504020204" pitchFamily="34" charset="0"/>
              </a:rPr>
              <a:t>- Team: inconsistent coding standards, frozen requirements, late UX/customer feedback, and one-to-one SME channels</a:t>
            </a:r>
          </a:p>
          <a:p>
            <a:pPr marL="0" lvl="0" indent="0" algn="l" rtl="0">
              <a:spcBef>
                <a:spcPts val="700"/>
              </a:spcBef>
              <a:spcAft>
                <a:spcPts val="0"/>
              </a:spcAft>
              <a:buNone/>
            </a:pPr>
            <a:endParaRPr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0"/>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Private notes: 90-day Shu Ha Ri plan combines team and one-to-one coaching</a:t>
            </a:r>
          </a:p>
          <a:p>
            <a:pPr marL="0" lvl="0" indent="0" algn="l" rtl="0">
              <a:spcBef>
                <a:spcPts val="0"/>
              </a:spcBef>
              <a:spcAft>
                <a:spcPts val="0"/>
              </a:spcAft>
              <a:buNone/>
            </a:pPr>
            <a:endParaRPr dirty="0"/>
          </a:p>
        </p:txBody>
      </p:sp>
      <p:sp>
        <p:nvSpPr>
          <p:cNvPr id="204" name="Google Shape;204;p40"/>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205" name="Google Shape;205;p40"/>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Appendix 2 - Training &amp; Coaching Plan</a:t>
            </a:r>
            <a:endParaRPr/>
          </a:p>
        </p:txBody>
      </p:sp>
      <p:sp>
        <p:nvSpPr>
          <p:cNvPr id="206" name="Google Shape;206;p40"/>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indent="0"/>
            <a:r>
              <a:rPr lang="en-US" sz="1400" dirty="0">
                <a:solidFill>
                  <a:srgbClr val="514231"/>
                </a:solidFill>
                <a:latin typeface="Open Sans" panose="020B0606030504020204" pitchFamily="34" charset="0"/>
              </a:rPr>
              <a:t>The plan moves from following shared practices (Shu), to adapting them with support (Ha), to team-owned improvement (Ri).</a:t>
            </a:r>
          </a:p>
          <a:p>
            <a:pPr marL="0" indent="0"/>
            <a:endParaRPr lang="en-US" sz="1400" dirty="0">
              <a:solidFill>
                <a:srgbClr val="514231"/>
              </a:solidFill>
              <a:latin typeface="Open Sans" panose="020B0606030504020204" pitchFamily="34" charset="0"/>
            </a:endParaRPr>
          </a:p>
          <a:p>
            <a:pPr marL="0" indent="0"/>
            <a:r>
              <a:rPr lang="en-US" sz="1400" dirty="0">
                <a:solidFill>
                  <a:srgbClr val="514231"/>
                </a:solidFill>
                <a:latin typeface="Open Sans" panose="020B0606030504020204" pitchFamily="34" charset="0"/>
              </a:rPr>
              <a:t>- Days 1-30, Shu: whole-team Scrum basics, Definition of Done, coding standards, pairing, refinement; coach Jane and John weekly</a:t>
            </a:r>
          </a:p>
          <a:p>
            <a:pPr marL="0" indent="0"/>
            <a:r>
              <a:rPr lang="en-US" sz="1400" dirty="0">
                <a:solidFill>
                  <a:srgbClr val="514231"/>
                </a:solidFill>
                <a:latin typeface="Open Sans" panose="020B0606030504020204" pitchFamily="34" charset="0"/>
              </a:rPr>
              <a:t>- Days 31-60, Ha: rotate pairs, joint test design, mob refinement, WIP review; coach Kathy on shift-left quality and Jerry on outcome-focused analysis</a:t>
            </a:r>
          </a:p>
          <a:p>
            <a:pPr marL="0" indent="0"/>
            <a:r>
              <a:rPr lang="en-US" sz="1400" dirty="0">
                <a:solidFill>
                  <a:srgbClr val="514231"/>
                </a:solidFill>
                <a:latin typeface="Open Sans" panose="020B0606030504020204" pitchFamily="34" charset="0"/>
              </a:rPr>
              <a:t>- Days 61-90, Ri: team facilitates events, owns standards, and experiments using radiator evidence; coach Jane on servant leadership and conflict facilitation</a:t>
            </a:r>
          </a:p>
          <a:p>
            <a:pPr marL="0" indent="0"/>
            <a:r>
              <a:rPr lang="en-US" sz="1400" dirty="0">
                <a:solidFill>
                  <a:srgbClr val="514231"/>
                </a:solidFill>
                <a:latin typeface="Open Sans" panose="020B0606030504020204" pitchFamily="34" charset="0"/>
              </a:rPr>
              <a:t>- Measure progress: smaller handoffs, more paired work, automated-test coverage, fewer late defects, and retrospective actions completed</a:t>
            </a:r>
            <a:endParaRPr sz="14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dacity Template 16x9">
  <a:themeElements>
    <a:clrScheme name="White">
      <a:dk1>
        <a:srgbClr val="2E3D49"/>
      </a:dk1>
      <a:lt1>
        <a:srgbClr val="7D97AD"/>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670</TotalTime>
  <Words>2380</Words>
  <Application>Microsoft Office PowerPoint</Application>
  <PresentationFormat>On-screen Show (16:9)</PresentationFormat>
  <Paragraphs>185</Paragraphs>
  <Slides>13</Slides>
  <Notes>13</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13</vt:i4>
      </vt:variant>
    </vt:vector>
  </HeadingPairs>
  <TitlesOfParts>
    <vt:vector size="17" baseType="lpstr">
      <vt:lpstr>Arial</vt:lpstr>
      <vt:lpstr>Open Sans</vt:lpstr>
      <vt:lpstr>Simple Light</vt:lpstr>
      <vt:lpstr>Udacity Template 16x9</vt:lpstr>
      <vt:lpstr>WorldVisitz Mobile Application Agile Delivery Launch</vt:lpstr>
      <vt:lpstr>Agile Onboarding</vt:lpstr>
      <vt:lpstr>Onboarding the Team</vt:lpstr>
      <vt:lpstr>Agile Benefits for the Team</vt:lpstr>
      <vt:lpstr>Agile Benefits for the Team</vt:lpstr>
      <vt:lpstr>Agile Practice</vt:lpstr>
      <vt:lpstr>Radiator 1: Sprint Burndown</vt:lpstr>
      <vt:lpstr>Radiator 2: Cumulative Flow with WIP limits</vt:lpstr>
      <vt:lpstr>Ceremony Schedule &amp; Each Agenda</vt:lpstr>
      <vt:lpstr>High Performing Agile Teams</vt:lpstr>
      <vt:lpstr>Team Composition and Role Assignments</vt:lpstr>
      <vt:lpstr>Appendix 1 - Skill Gaps</vt:lpstr>
      <vt:lpstr>Appendix 2 - Training &amp; Coaching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Christopher O'Hara</cp:lastModifiedBy>
  <cp:revision>3</cp:revision>
  <dcterms:modified xsi:type="dcterms:W3CDTF">2026-08-09T06:59:10Z</dcterms:modified>
</cp:coreProperties>
</file>