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 id="2147483676" r:id="rId2"/>
  </p:sldMasterIdLst>
  <p:notesMasterIdLst>
    <p:notesMasterId r:id="rId17"/>
  </p:notesMasterIdLst>
  <p:sldIdLst>
    <p:sldId id="256" r:id="rId3"/>
    <p:sldId id="258" r:id="rId4"/>
    <p:sldId id="259" r:id="rId5"/>
    <p:sldId id="267" r:id="rId6"/>
    <p:sldId id="268" r:id="rId7"/>
    <p:sldId id="269" r:id="rId8"/>
    <p:sldId id="260" r:id="rId9"/>
    <p:sldId id="261" r:id="rId10"/>
    <p:sldId id="262" r:id="rId11"/>
    <p:sldId id="264" r:id="rId12"/>
    <p:sldId id="265" r:id="rId13"/>
    <p:sldId id="266" r:id="rId14"/>
    <p:sldId id="270" r:id="rId15"/>
    <p:sldId id="271" r:id="rId16"/>
  </p:sldIdLst>
  <p:sldSz cx="9144000" cy="5143500" type="screen16x9"/>
  <p:notesSz cx="7315200" cy="9601200"/>
  <p:embeddedFontLst>
    <p:embeddedFont>
      <p:font typeface="Open Sans" panose="020B0606030504020204" pitchFamily="3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notesView">
  <p:normalViewPr showOutlineIcons="0">
    <p:restoredLeft sz="34573" autoAdjust="0"/>
    <p:restoredTop sz="86388" autoAdjust="0"/>
  </p:normalViewPr>
  <p:slideViewPr>
    <p:cSldViewPr snapToGrid="0">
      <p:cViewPr varScale="1">
        <p:scale>
          <a:sx n="112" d="100"/>
          <a:sy n="112" d="100"/>
        </p:scale>
        <p:origin x="72" y="424"/>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148" y="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31520" y="4560570"/>
            <a:ext cx="5852160" cy="4320540"/>
          </a:xfrm>
          <a:prstGeom prst="rect">
            <a:avLst/>
          </a:prstGeom>
          <a:noFill/>
          <a:ln>
            <a:noFill/>
          </a:ln>
        </p:spPr>
        <p:txBody>
          <a:bodyPr spcFirstLastPara="1" wrap="square" lIns="96645" tIns="96645" rIns="96645" bIns="9664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57515110cb_1_42:notes"/>
          <p:cNvSpPr txBox="1">
            <a:spLocks noGrp="1"/>
          </p:cNvSpPr>
          <p:nvPr>
            <p:ph type="body" idx="1"/>
          </p:nvPr>
        </p:nvSpPr>
        <p:spPr>
          <a:xfrm>
            <a:off x="990600" y="4560570"/>
            <a:ext cx="5364480" cy="4320540"/>
          </a:xfrm>
          <a:prstGeom prst="rect">
            <a:avLst/>
          </a:prstGeom>
          <a:noFill/>
          <a:ln>
            <a:noFill/>
          </a:ln>
        </p:spPr>
        <p:txBody>
          <a:bodyPr spcFirstLastPara="1" wrap="square" lIns="96645" tIns="96645" rIns="96645" bIns="96645" anchor="ctr" anchorCtr="0">
            <a:noAutofit/>
          </a:bodyPr>
          <a:lstStyle/>
          <a:p>
            <a:pPr marL="0" indent="0">
              <a:buNone/>
            </a:pPr>
            <a:r>
              <a:rPr lang="en-US" dirty="0"/>
              <a:t>Presenter notes</a:t>
            </a:r>
          </a:p>
          <a:p>
            <a:pPr marL="0" indent="0">
              <a:buNone/>
            </a:pPr>
            <a:endParaRPr lang="en-US" dirty="0"/>
          </a:p>
          <a:p>
            <a:pPr marL="0" indent="0">
              <a:buNone/>
            </a:pPr>
            <a:r>
              <a:rPr lang="en-US" dirty="0"/>
              <a:t>Do initial welcoming and greetings, read title and subtitle. </a:t>
            </a:r>
          </a:p>
          <a:p>
            <a:pPr marL="0" indent="0">
              <a:buNone/>
            </a:pPr>
            <a:endParaRPr lang="en-US" dirty="0"/>
          </a:p>
          <a:p>
            <a:pPr marL="0" indent="0">
              <a:buNone/>
            </a:pPr>
            <a:r>
              <a:rPr lang="en-US" dirty="0"/>
              <a:t>Small introduction to about myself</a:t>
            </a:r>
          </a:p>
        </p:txBody>
      </p:sp>
      <p:sp>
        <p:nvSpPr>
          <p:cNvPr id="127" name="Google Shape;127;g57515110cb_1_42: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63c535a6a2_0_4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63c535a6a2_0_43: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dirty="0"/>
              <a:t>Presenter notes</a:t>
            </a:r>
          </a:p>
          <a:p>
            <a:pPr marL="0" indent="0">
              <a:buNone/>
            </a:pPr>
            <a:endParaRPr lang="en-US" dirty="0"/>
          </a:p>
          <a:p>
            <a:pPr marL="0" indent="0">
              <a:buNone/>
            </a:pPr>
            <a:r>
              <a:rPr lang="en-US" dirty="0"/>
              <a:t>Use this slide to guide the leadership team through Part 1: How </a:t>
            </a:r>
            <a:r>
              <a:rPr lang="en-US" dirty="0" err="1"/>
              <a:t>WorldVisitz</a:t>
            </a:r>
            <a:r>
              <a:rPr lang="en-US" dirty="0"/>
              <a:t> Can Benefit From Agile. Explain the main point in plain language, then connect it to the </a:t>
            </a:r>
            <a:r>
              <a:rPr lang="en-US" dirty="0" err="1"/>
              <a:t>WorldVisitz</a:t>
            </a:r>
            <a:r>
              <a:rPr lang="en-US" dirty="0"/>
              <a:t> mobile-launch scenario. </a:t>
            </a:r>
          </a:p>
          <a:p>
            <a:pPr marL="0" indent="0">
              <a:buNone/>
            </a:pP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51d3f39dfa_0_17: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151d3f39dfa_0_17: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dirty="0"/>
              <a:t>Presenter notes</a:t>
            </a:r>
          </a:p>
          <a:p>
            <a:pPr marL="0" indent="0">
              <a:buNone/>
            </a:pPr>
            <a:endParaRPr lang="en-US" dirty="0"/>
          </a:p>
          <a:p>
            <a:pPr marL="0" indent="0">
              <a:buNone/>
            </a:pPr>
            <a:endParaRPr lang="en-US" dirty="0"/>
          </a:p>
          <a:p>
            <a:pPr marL="0" indent="0">
              <a:buNone/>
            </a:pPr>
            <a:r>
              <a:rPr lang="en-US" dirty="0"/>
              <a:t>- Prioritize a thin booking journey before every airline and partner integration</a:t>
            </a:r>
          </a:p>
          <a:p>
            <a:pPr marL="0" indent="0">
              <a:buNone/>
            </a:pPr>
            <a:r>
              <a:rPr lang="en-US" dirty="0"/>
              <a:t>- Inspect working software with stakeholders; change the backlog when evidence changes</a:t>
            </a:r>
          </a:p>
          <a:p>
            <a:pPr marL="0" indent="0">
              <a:buNone/>
            </a:pPr>
            <a:r>
              <a:rPr lang="en-US" dirty="0"/>
              <a:t>- Launch valuable capabilities when the business is ready rather than wait for one final release</a:t>
            </a:r>
          </a:p>
          <a:p>
            <a:pPr marL="0" indent="0">
              <a:buNone/>
            </a:pP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6EA08435-E88B-27BE-7FC2-7DF20B1DDB8D}"/>
            </a:ext>
          </a:extLst>
        </p:cNvPr>
        <p:cNvGrpSpPr/>
        <p:nvPr/>
      </p:nvGrpSpPr>
      <p:grpSpPr>
        <a:xfrm>
          <a:off x="0" y="0"/>
          <a:ext cx="0" cy="0"/>
          <a:chOff x="0" y="0"/>
          <a:chExt cx="0" cy="0"/>
        </a:xfrm>
      </p:grpSpPr>
      <p:sp>
        <p:nvSpPr>
          <p:cNvPr id="145" name="Google Shape;145;g151d3f39dfa_0_17:notes">
            <a:extLst>
              <a:ext uri="{FF2B5EF4-FFF2-40B4-BE49-F238E27FC236}">
                <a16:creationId xmlns:a16="http://schemas.microsoft.com/office/drawing/2014/main" id="{7D8173F1-B03F-DD28-BE8B-7497A6F49940}"/>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151d3f39dfa_0_17:notes">
            <a:extLst>
              <a:ext uri="{FF2B5EF4-FFF2-40B4-BE49-F238E27FC236}">
                <a16:creationId xmlns:a16="http://schemas.microsoft.com/office/drawing/2014/main" id="{87765EC7-3529-D7DE-9D00-1462970066A0}"/>
              </a:ext>
            </a:extLst>
          </p:cNvPr>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dirty="0"/>
              <a:t>Presenter notes</a:t>
            </a:r>
          </a:p>
          <a:p>
            <a:pPr marL="0" indent="0">
              <a:buNone/>
            </a:pPr>
            <a:endParaRPr lang="en-US" dirty="0"/>
          </a:p>
          <a:p>
            <a:pPr marL="0" indent="0">
              <a:buNone/>
            </a:pPr>
            <a:r>
              <a:rPr lang="en-US" dirty="0"/>
              <a:t>Use this slide to guide the leadership team through The Agile Manifesto puts customer value and learning first. Explain the main point in plain language, then connect it to the </a:t>
            </a:r>
            <a:r>
              <a:rPr lang="en-US" dirty="0" err="1"/>
              <a:t>WorldVisitz</a:t>
            </a:r>
            <a:r>
              <a:rPr lang="en-US" dirty="0"/>
              <a:t> mobile-launch scenario. What is Agile? The 2001 Agile Manifesto expresses four value preferences that guide product delivery under uncertainty.</a:t>
            </a:r>
          </a:p>
          <a:p>
            <a:pPr marL="0" indent="0">
              <a:buNone/>
            </a:pPr>
            <a:endParaRPr lang="en-US" dirty="0"/>
          </a:p>
          <a:p>
            <a:pPr marL="0" indent="0">
              <a:buNone/>
            </a:pPr>
            <a:r>
              <a:rPr lang="en-US" dirty="0"/>
              <a:t>- Individuals and interactions over processes and tools</a:t>
            </a:r>
          </a:p>
          <a:p>
            <a:pPr marL="0" indent="0">
              <a:buNone/>
            </a:pPr>
            <a:r>
              <a:rPr lang="en-US" dirty="0"/>
              <a:t>- Working software over comprehensive documentation</a:t>
            </a:r>
          </a:p>
          <a:p>
            <a:pPr marL="0" indent="0">
              <a:buNone/>
            </a:pPr>
            <a:r>
              <a:rPr lang="en-US" dirty="0"/>
              <a:t>- Customer collaboration over contract negotiation</a:t>
            </a:r>
          </a:p>
          <a:p>
            <a:pPr marL="0" indent="0">
              <a:buNone/>
            </a:pPr>
            <a:r>
              <a:rPr lang="en-US" dirty="0"/>
              <a:t>- Responding to change over following a plan</a:t>
            </a:r>
          </a:p>
          <a:p>
            <a:pPr marL="0" indent="0">
              <a:buNone/>
            </a:pPr>
            <a:endParaRPr lang="en-US" dirty="0"/>
          </a:p>
          <a:p>
            <a:pPr marL="0" indent="0">
              <a:buNone/>
            </a:pPr>
            <a:r>
              <a:rPr lang="en-US" dirty="0"/>
              <a:t>Pause for questions and emphasize how this point supports predictable, value-driven delivery.</a:t>
            </a:r>
            <a:endParaRPr dirty="0"/>
          </a:p>
        </p:txBody>
      </p:sp>
    </p:spTree>
    <p:extLst>
      <p:ext uri="{BB962C8B-B14F-4D97-AF65-F5344CB8AC3E}">
        <p14:creationId xmlns:p14="http://schemas.microsoft.com/office/powerpoint/2010/main" val="2133155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785E5AA4-9798-237C-8DE2-1127502991DC}"/>
            </a:ext>
          </a:extLst>
        </p:cNvPr>
        <p:cNvGrpSpPr/>
        <p:nvPr/>
      </p:nvGrpSpPr>
      <p:grpSpPr>
        <a:xfrm>
          <a:off x="0" y="0"/>
          <a:ext cx="0" cy="0"/>
          <a:chOff x="0" y="0"/>
          <a:chExt cx="0" cy="0"/>
        </a:xfrm>
      </p:grpSpPr>
      <p:sp>
        <p:nvSpPr>
          <p:cNvPr id="154" name="Google Shape;154;g151d3f39dfa_0_24:notes">
            <a:extLst>
              <a:ext uri="{FF2B5EF4-FFF2-40B4-BE49-F238E27FC236}">
                <a16:creationId xmlns:a16="http://schemas.microsoft.com/office/drawing/2014/main" id="{3D016683-6ED0-3180-0ACF-02164771996E}"/>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51d3f39dfa_0_24:notes">
            <a:extLst>
              <a:ext uri="{FF2B5EF4-FFF2-40B4-BE49-F238E27FC236}">
                <a16:creationId xmlns:a16="http://schemas.microsoft.com/office/drawing/2014/main" id="{42D9A9A8-C5F8-2A64-4640-B0EC69C6ABC4}"/>
              </a:ext>
            </a:extLst>
          </p:cNvPr>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dirty="0"/>
              <a:t>Presenter notes</a:t>
            </a:r>
          </a:p>
          <a:p>
            <a:pPr marL="0" indent="0">
              <a:buNone/>
            </a:pPr>
            <a:endParaRPr lang="en-US" dirty="0"/>
          </a:p>
          <a:p>
            <a:pPr marL="0" indent="0">
              <a:buNone/>
            </a:pPr>
            <a:r>
              <a:rPr lang="en-US" dirty="0"/>
              <a:t>Use this slide to guide the leadership team through Agile principles 1-6 make value and feedback routine. Explain the main point in plain language, then connect it to the </a:t>
            </a:r>
            <a:r>
              <a:rPr lang="en-US" dirty="0" err="1"/>
              <a:t>WorldVisitz</a:t>
            </a:r>
            <a:r>
              <a:rPr lang="en-US" dirty="0"/>
              <a:t> mobile-launch scenario. What is Agile manifesto? The first six principles explain how a team repeatedly delivers and learns.</a:t>
            </a:r>
          </a:p>
          <a:p>
            <a:pPr marL="0" indent="0">
              <a:buNone/>
            </a:pPr>
            <a:r>
              <a:rPr lang="en-US" dirty="0"/>
              <a:t>1. Satisfy customers through early and continuous delivery</a:t>
            </a:r>
          </a:p>
          <a:p>
            <a:pPr marL="0" indent="0">
              <a:buNone/>
            </a:pPr>
            <a:r>
              <a:rPr lang="en-US" dirty="0"/>
              <a:t>2. Welcome changing requirements, even late in development</a:t>
            </a:r>
          </a:p>
          <a:p>
            <a:pPr marL="0" indent="0">
              <a:buNone/>
            </a:pPr>
            <a:r>
              <a:rPr lang="en-US" dirty="0"/>
              <a:t>3. Deliver working software frequently</a:t>
            </a:r>
          </a:p>
          <a:p>
            <a:pPr marL="0" indent="0">
              <a:buNone/>
            </a:pPr>
            <a:r>
              <a:rPr lang="en-US" dirty="0"/>
              <a:t>4. Business people and developers collaborate daily</a:t>
            </a:r>
          </a:p>
          <a:p>
            <a:pPr marL="0" indent="0">
              <a:buNone/>
            </a:pPr>
            <a:r>
              <a:rPr lang="en-US" dirty="0"/>
              <a:t>5. Build around motivated people and support them</a:t>
            </a:r>
          </a:p>
          <a:p>
            <a:pPr marL="0" indent="0">
              <a:buNone/>
            </a:pPr>
            <a:r>
              <a:rPr lang="en-US" dirty="0"/>
              <a:t>6. Prefer direct, timely conversation</a:t>
            </a:r>
          </a:p>
          <a:p>
            <a:pPr marL="0" indent="0">
              <a:buNone/>
            </a:pPr>
            <a:endParaRPr lang="en-US" dirty="0"/>
          </a:p>
          <a:p>
            <a:pPr marL="0" indent="0">
              <a:buNone/>
            </a:pPr>
            <a:r>
              <a:rPr lang="en-US" dirty="0"/>
              <a:t>Pause for questions and emphasize how this point supports predictable, value-driven delivery.</a:t>
            </a:r>
            <a:endParaRPr dirty="0"/>
          </a:p>
        </p:txBody>
      </p:sp>
    </p:spTree>
    <p:extLst>
      <p:ext uri="{BB962C8B-B14F-4D97-AF65-F5344CB8AC3E}">
        <p14:creationId xmlns:p14="http://schemas.microsoft.com/office/powerpoint/2010/main" val="167762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22CA4254-77C4-2036-DEE5-43ABD995A7F5}"/>
            </a:ext>
          </a:extLst>
        </p:cNvPr>
        <p:cNvGrpSpPr/>
        <p:nvPr/>
      </p:nvGrpSpPr>
      <p:grpSpPr>
        <a:xfrm>
          <a:off x="0" y="0"/>
          <a:ext cx="0" cy="0"/>
          <a:chOff x="0" y="0"/>
          <a:chExt cx="0" cy="0"/>
        </a:xfrm>
      </p:grpSpPr>
      <p:sp>
        <p:nvSpPr>
          <p:cNvPr id="154" name="Google Shape;154;g151d3f39dfa_0_24:notes">
            <a:extLst>
              <a:ext uri="{FF2B5EF4-FFF2-40B4-BE49-F238E27FC236}">
                <a16:creationId xmlns:a16="http://schemas.microsoft.com/office/drawing/2014/main" id="{2894AD92-55CA-7F89-5B46-103F6D673123}"/>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51d3f39dfa_0_24:notes">
            <a:extLst>
              <a:ext uri="{FF2B5EF4-FFF2-40B4-BE49-F238E27FC236}">
                <a16:creationId xmlns:a16="http://schemas.microsoft.com/office/drawing/2014/main" id="{EDE4EA34-DFB5-5A4F-2585-ECF18E9D3D60}"/>
              </a:ext>
            </a:extLst>
          </p:cNvPr>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dirty="0"/>
              <a:t>Presenter notes</a:t>
            </a:r>
          </a:p>
          <a:p>
            <a:pPr marL="0" indent="0">
              <a:buNone/>
            </a:pPr>
            <a:endParaRPr lang="en-US" dirty="0"/>
          </a:p>
          <a:p>
            <a:pPr marL="0" indent="0">
              <a:buNone/>
            </a:pPr>
            <a:r>
              <a:rPr lang="en-US" dirty="0"/>
              <a:t>Use this slide to guide the leadership team through Agile principles 7-12 make quality sustainable. Explain the main point in plain language, then connect it to the </a:t>
            </a:r>
            <a:r>
              <a:rPr lang="en-US" dirty="0" err="1"/>
              <a:t>WorldVisitz</a:t>
            </a:r>
            <a:r>
              <a:rPr lang="en-US" dirty="0"/>
              <a:t> mobile-launch scenario. What is Agile manifesto? The remaining principles turn delivery into a durable operating system.</a:t>
            </a:r>
          </a:p>
          <a:p>
            <a:pPr marL="0" indent="0">
              <a:buNone/>
            </a:pPr>
            <a:r>
              <a:rPr lang="en-US" dirty="0"/>
              <a:t>7. Working software is the primary measure of progress</a:t>
            </a:r>
          </a:p>
          <a:p>
            <a:pPr marL="0" indent="0">
              <a:buNone/>
            </a:pPr>
            <a:r>
              <a:rPr lang="en-US" dirty="0"/>
              <a:t>8. Maintain a sustainable pace</a:t>
            </a:r>
          </a:p>
          <a:p>
            <a:pPr marL="0" indent="0">
              <a:buNone/>
            </a:pPr>
            <a:r>
              <a:rPr lang="en-US" dirty="0"/>
              <a:t>9. Technical excellence and good design enhance agility</a:t>
            </a:r>
          </a:p>
          <a:p>
            <a:pPr marL="0" indent="0">
              <a:buNone/>
            </a:pPr>
            <a:r>
              <a:rPr lang="en-US" dirty="0"/>
              <a:t>10. Simplicity maximizing work not done is essential</a:t>
            </a:r>
          </a:p>
          <a:p>
            <a:pPr marL="0" indent="0">
              <a:buNone/>
            </a:pPr>
            <a:r>
              <a:rPr lang="en-US" dirty="0"/>
              <a:t>11. Self-organizing teams create the best designs and solutions</a:t>
            </a:r>
          </a:p>
          <a:p>
            <a:pPr marL="0" indent="0">
              <a:buNone/>
            </a:pPr>
            <a:r>
              <a:rPr lang="en-US" dirty="0"/>
              <a:t>12. Regular reflection improves effectiveness</a:t>
            </a:r>
          </a:p>
          <a:p>
            <a:pPr marL="0" indent="0">
              <a:buNone/>
            </a:pPr>
            <a:endParaRPr lang="en-US" dirty="0"/>
          </a:p>
          <a:p>
            <a:pPr marL="0" indent="0">
              <a:buNone/>
            </a:pPr>
            <a:r>
              <a:rPr lang="en-US" dirty="0"/>
              <a:t>Pause for questions and emphasize how this point supports predictable, value-driven delivery.</a:t>
            </a:r>
            <a:endParaRPr dirty="0"/>
          </a:p>
        </p:txBody>
      </p:sp>
    </p:spTree>
    <p:extLst>
      <p:ext uri="{BB962C8B-B14F-4D97-AF65-F5344CB8AC3E}">
        <p14:creationId xmlns:p14="http://schemas.microsoft.com/office/powerpoint/2010/main" val="3515908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51d3f39dfa_0_24: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51d3f39dfa_0_24: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dirty="0"/>
              <a:t>Presenter notes</a:t>
            </a:r>
          </a:p>
          <a:p>
            <a:pPr marL="0" indent="0">
              <a:buNone/>
            </a:pPr>
            <a:endParaRPr lang="en-US" dirty="0"/>
          </a:p>
          <a:p>
            <a:pPr marL="0" indent="0">
              <a:buNone/>
            </a:pPr>
            <a:r>
              <a:rPr lang="en-US" dirty="0"/>
              <a:t>Use this slide to guide the leadership team through Following the Manifesto is essential for this launch. Explain the main point in plain language, then connect it to the </a:t>
            </a:r>
            <a:r>
              <a:rPr lang="en-US" dirty="0" err="1"/>
              <a:t>WorldVisitz</a:t>
            </a:r>
            <a:r>
              <a:rPr lang="en-US" dirty="0"/>
              <a:t> mobile-launch scenario. What is Agile manifesto? </a:t>
            </a:r>
            <a:r>
              <a:rPr lang="en-US" dirty="0" err="1"/>
              <a:t>WorldVisitz</a:t>
            </a:r>
            <a:r>
              <a:rPr lang="en-US" dirty="0"/>
              <a:t> should follow the Manifesto because it aligns daily choices with learning, quality, and customer value.</a:t>
            </a:r>
          </a:p>
          <a:p>
            <a:pPr marL="0" indent="0">
              <a:buNone/>
            </a:pPr>
            <a:endParaRPr lang="en-US" dirty="0"/>
          </a:p>
          <a:p>
            <a:pPr marL="0" indent="0">
              <a:buNone/>
            </a:pPr>
            <a:r>
              <a:rPr lang="en-US" dirty="0"/>
              <a:t>- Reason 1: working increments expose airline, payment, and partner risk early</a:t>
            </a:r>
          </a:p>
          <a:p>
            <a:pPr marL="0" indent="0">
              <a:buNone/>
            </a:pPr>
            <a:r>
              <a:rPr lang="en-US" dirty="0"/>
              <a:t>- Reason 2: customer collaboration validates offers before expensive build-out</a:t>
            </a:r>
          </a:p>
          <a:p>
            <a:pPr marL="0" indent="0">
              <a:buNone/>
            </a:pPr>
            <a:r>
              <a:rPr lang="en-US" dirty="0"/>
              <a:t>- It replaces silo handoffs with shared accountability across USA and India</a:t>
            </a:r>
          </a:p>
          <a:p>
            <a:pPr marL="0" indent="0">
              <a:buNone/>
            </a:pPr>
            <a:r>
              <a:rPr lang="en-US" dirty="0"/>
              <a:t>- It keeps plans responsive when travel-market evidence changes</a:t>
            </a:r>
          </a:p>
          <a:p>
            <a:pPr marL="0" indent="0">
              <a:buNone/>
            </a:pPr>
            <a:endParaRPr lang="en-US" dirty="0"/>
          </a:p>
          <a:p>
            <a:pPr marL="0" indent="0">
              <a:buNone/>
            </a:pPr>
            <a:r>
              <a:rPr lang="en-US" dirty="0"/>
              <a:t>Pause for questions and emphasize how this point supports predictable, value-driven delivery.</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51d3f39dfa_0_38: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51d3f39dfa_0_38: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a:t>Presenter notes</a:t>
            </a:r>
          </a:p>
          <a:p>
            <a:pPr marL="0" indent="0">
              <a:buNone/>
            </a:pPr>
            <a:endParaRPr lang="en-US"/>
          </a:p>
          <a:p>
            <a:pPr marL="0" indent="0">
              <a:buNone/>
            </a:pPr>
            <a:r>
              <a:rPr lang="en-US"/>
              <a:t>Use this slide to guide the leadership team through Waterfall delays evidence; Agile uses it to steer. Explain the main point in plain language, then connect it to the WorldVisitz mobile-launch scenario. Key differences between Agile and Waterfall Waterfall optimizes predictability of a fixed plan; Agile optimizes value delivery under changing conditions.</a:t>
            </a:r>
          </a:p>
          <a:p>
            <a:pPr marL="0" indent="0">
              <a:buNone/>
            </a:pPr>
            <a:r>
              <a:rPr lang="en-US"/>
              <a:t>- Waterfall: requirements freeze early, phases hand off, testing and customer feedback arrive late</a:t>
            </a:r>
          </a:p>
          <a:p>
            <a:pPr marL="0" indent="0">
              <a:buNone/>
            </a:pPr>
            <a:r>
              <a:rPr lang="en-US"/>
              <a:t>- Agile: one ordered backlog, cross-functional work, short feedback cycles, tested increments</a:t>
            </a:r>
          </a:p>
          <a:p>
            <a:pPr marL="0" indent="0">
              <a:buNone/>
            </a:pPr>
            <a:r>
              <a:rPr lang="en-US"/>
              <a:t>- For WorldVisitz, late discovery of payment or airline integration risk is costly</a:t>
            </a:r>
          </a:p>
          <a:p>
            <a:pPr marL="0" indent="0">
              <a:buNone/>
            </a:pPr>
            <a:r>
              <a:rPr lang="en-US"/>
              <a:t>- Agile makes that risk visible in a small release slice</a:t>
            </a:r>
          </a:p>
          <a:p>
            <a:pPr marL="0" indent="0">
              <a:buNone/>
            </a:pPr>
            <a:endParaRPr lang="en-US"/>
          </a:p>
          <a:p>
            <a:pPr marL="0" indent="0">
              <a:buNone/>
            </a:pPr>
            <a:r>
              <a:rPr lang="en-US"/>
              <a:t>Pause for questions and emphasize how this point supports predictable, value-driven delivery.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151d3f39dfa_0_45: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151d3f39dfa_0_45: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a:t>Presenter notes</a:t>
            </a:r>
          </a:p>
          <a:p>
            <a:pPr marL="0" indent="0">
              <a:buNone/>
            </a:pPr>
            <a:endParaRPr lang="en-US"/>
          </a:p>
          <a:p>
            <a:pPr marL="0" indent="0">
              <a:buNone/>
            </a:pPr>
            <a:r>
              <a:rPr lang="en-US"/>
              <a:t>Use this slide to guide the leadership team through Business agility lets WorldVisitz monetize and learn sooner. Explain the main point in plain language, then connect it to the WorldVisitz mobile-launch scenario. The benefits of Business Agility to WorldVisitz A small release can deliver flight search, a purchase path, and measured upsell learning before the full ecosystem is complete.</a:t>
            </a:r>
          </a:p>
          <a:p>
            <a:pPr marL="0" indent="0">
              <a:buNone/>
            </a:pPr>
            <a:endParaRPr lang="en-US"/>
          </a:p>
          <a:p>
            <a:pPr marL="0" indent="0">
              <a:buNone/>
            </a:pPr>
            <a:r>
              <a:rPr lang="en-US"/>
              <a:t>- Principle 1: early delivery enables earlier revenue from a usable booking slice</a:t>
            </a:r>
          </a:p>
          <a:p>
            <a:pPr marL="0" indent="0">
              <a:buNone/>
            </a:pPr>
            <a:r>
              <a:rPr lang="en-US"/>
              <a:t>- Principle 3: frequent increments validate payment, airline, and partner integrations</a:t>
            </a:r>
          </a:p>
          <a:p>
            <a:pPr marL="0" indent="0">
              <a:buNone/>
            </a:pPr>
            <a:r>
              <a:rPr lang="en-US"/>
              <a:t>- Principle 4: daily collaboration reconnects John, Jerry, Holly, designers, testers, and developers</a:t>
            </a:r>
          </a:p>
          <a:p>
            <a:pPr marL="0" indent="0">
              <a:buNone/>
            </a:pPr>
            <a:r>
              <a:rPr lang="en-US"/>
              <a:t>- Principle 9: automated tests and shared standards reduce defects and rework</a:t>
            </a:r>
          </a:p>
          <a:p>
            <a:pPr marL="0" indent="0">
              <a:buNone/>
            </a:pPr>
            <a:endParaRPr lang="en-US"/>
          </a:p>
          <a:p>
            <a:pPr marL="0" indent="0">
              <a:buNone/>
            </a:pPr>
            <a:r>
              <a:rPr lang="en-US"/>
              <a:t>Pause for questions and emphasize how this point supports predictable, value-driven delivery.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51d3f39dfa_0_7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151d3f39dfa_0_70: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a:t>Presenter notes</a:t>
            </a:r>
          </a:p>
          <a:p>
            <a:pPr marL="0" indent="0">
              <a:buNone/>
            </a:pPr>
            <a:endParaRPr lang="en-US"/>
          </a:p>
          <a:p>
            <a:pPr marL="0" indent="0">
              <a:buNone/>
            </a:pPr>
            <a:r>
              <a:rPr lang="en-US"/>
              <a:t>Use this slide to guide the leadership team through The Agile umbrella offers complementary strengths. Explain the main point in plain language, then connect it to the WorldVisitz mobile-launch scenario. What is Agile Umbrella Scrum, Kanban, and XP are compatible approaches; each solves a different delivery need.</a:t>
            </a:r>
          </a:p>
          <a:p>
            <a:pPr marL="0" indent="0">
              <a:buNone/>
            </a:pPr>
            <a:r>
              <a:rPr lang="en-US"/>
              <a:t>- Scrum: roles, fixed-length Sprints, events, Sprint Goals, and potentially releasable increments</a:t>
            </a:r>
          </a:p>
          <a:p>
            <a:pPr marL="0" indent="0">
              <a:buNone/>
            </a:pPr>
            <a:r>
              <a:rPr lang="en-US"/>
              <a:t>- Kanban: visual workflow, pull system, explicit policies, and work-in-progress limits</a:t>
            </a:r>
          </a:p>
          <a:p>
            <a:pPr marL="0" indent="0">
              <a:buNone/>
            </a:pPr>
            <a:r>
              <a:rPr lang="en-US"/>
              <a:t>- XP: engineering practices such as pairing, test-first development, continuous integration, and collective ownership</a:t>
            </a:r>
          </a:p>
          <a:p>
            <a:pPr marL="0" indent="0">
              <a:buNone/>
            </a:pPr>
            <a:r>
              <a:rPr lang="en-US"/>
              <a:t>- Scrum supplies cadence, Kanban exposes flow, and XP builds technical quality</a:t>
            </a:r>
          </a:p>
          <a:p>
            <a:pPr marL="0" indent="0">
              <a:buNone/>
            </a:pPr>
            <a:endParaRPr lang="en-US"/>
          </a:p>
          <a:p>
            <a:pPr marL="0" indent="0">
              <a:buNone/>
            </a:pPr>
            <a:r>
              <a:rPr lang="en-US"/>
              <a:t>Pause for questions and emphasize how this point supports predictable, value-driven delivery.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51d3f39dfa_0_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51d3f39dfa_0_6: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a:t>Presenter notes</a:t>
            </a:r>
          </a:p>
          <a:p>
            <a:pPr marL="0" indent="0">
              <a:buNone/>
            </a:pPr>
            <a:endParaRPr lang="en-US"/>
          </a:p>
          <a:p>
            <a:pPr marL="0" indent="0">
              <a:buNone/>
            </a:pPr>
            <a:r>
              <a:rPr lang="en-US"/>
              <a:t>Use this slide to guide the leadership team through Part 2: The Optimal Agile Framework for WorldVisitz. Explain the main point in plain language, then connect it to the WorldVisitz mobile-launch scenario. </a:t>
            </a:r>
          </a:p>
          <a:p>
            <a:pPr marL="0" indent="0">
              <a:buNone/>
            </a:pPr>
            <a:endParaRPr lang="en-US"/>
          </a:p>
          <a:p>
            <a:pPr marL="0" indent="0">
              <a:buNone/>
            </a:pPr>
            <a:r>
              <a:rPr lang="en-US"/>
              <a:t>Pause for questions and emphasize how this point supports predictable, value-driven delivery.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151d3f39dfa_0_6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151d3f39dfa_0_63:notes"/>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a:t>Presenter notes</a:t>
            </a:r>
          </a:p>
          <a:p>
            <a:pPr marL="0" indent="0">
              <a:buNone/>
            </a:pPr>
            <a:endParaRPr lang="en-US"/>
          </a:p>
          <a:p>
            <a:pPr marL="0" indent="0">
              <a:buNone/>
            </a:pPr>
            <a:r>
              <a:rPr lang="en-US"/>
              <a:t>Use this slide to guide the leadership team through Recommendation: Scrum, reinforced by XP and Kanban practices. Explain the main point in plain language, then connect it to the WorldVisitz mobile-launch scenario. Recommendations and justifications for WorldVisitz Scrum is the primary framework because executives want a predictable cadence and the team needs clear roles, goals, and inspect-and-adapt events.</a:t>
            </a:r>
          </a:p>
          <a:p>
            <a:pPr marL="0" indent="0">
              <a:buNone/>
            </a:pPr>
            <a:r>
              <a:rPr lang="en-US"/>
              <a:t>- Two-week Sprints create a dependable review point and a usable increment</a:t>
            </a:r>
          </a:p>
          <a:p>
            <a:pPr marL="0" indent="0">
              <a:buNone/>
            </a:pPr>
            <a:r>
              <a:rPr lang="en-US"/>
              <a:t>- XP pairing, automated tests, CI, and collective ownership address inconsistent standards and knowledge silos</a:t>
            </a:r>
          </a:p>
          <a:p>
            <a:pPr marL="0" indent="0">
              <a:buNone/>
            </a:pPr>
            <a:r>
              <a:rPr lang="en-US"/>
              <a:t>- Kanban board and WIP limits expose blocked work and test queues inside the Sprint</a:t>
            </a:r>
          </a:p>
          <a:p>
            <a:pPr marL="0" indent="0">
              <a:buNone/>
            </a:pPr>
            <a:r>
              <a:rPr lang="en-US"/>
              <a:t>- The Product Backlog keeps features, integrations, and analytics ordered by value</a:t>
            </a:r>
          </a:p>
          <a:p>
            <a:pPr marL="0" indent="0">
              <a:buNone/>
            </a:pPr>
            <a:endParaRPr lang="en-US"/>
          </a:p>
          <a:p>
            <a:pPr marL="0" indent="0">
              <a:buNone/>
            </a:pPr>
            <a:r>
              <a:rPr lang="en-US"/>
              <a:t>Pause for questions and emphasize how this point supports predictable, value-driven delivery.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a:extLst>
            <a:ext uri="{FF2B5EF4-FFF2-40B4-BE49-F238E27FC236}">
              <a16:creationId xmlns:a16="http://schemas.microsoft.com/office/drawing/2014/main" id="{55240EBA-2D95-7D49-77AE-935595619DE3}"/>
            </a:ext>
          </a:extLst>
        </p:cNvPr>
        <p:cNvGrpSpPr/>
        <p:nvPr/>
      </p:nvGrpSpPr>
      <p:grpSpPr>
        <a:xfrm>
          <a:off x="0" y="0"/>
          <a:ext cx="0" cy="0"/>
          <a:chOff x="0" y="0"/>
          <a:chExt cx="0" cy="0"/>
        </a:xfrm>
      </p:grpSpPr>
      <p:sp>
        <p:nvSpPr>
          <p:cNvPr id="204" name="Google Shape;204;g151d3f39dfa_0_63:notes">
            <a:extLst>
              <a:ext uri="{FF2B5EF4-FFF2-40B4-BE49-F238E27FC236}">
                <a16:creationId xmlns:a16="http://schemas.microsoft.com/office/drawing/2014/main" id="{15016238-0AD4-67B5-B9D9-271DA6FE92A3}"/>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151d3f39dfa_0_63:notes">
            <a:extLst>
              <a:ext uri="{FF2B5EF4-FFF2-40B4-BE49-F238E27FC236}">
                <a16:creationId xmlns:a16="http://schemas.microsoft.com/office/drawing/2014/main" id="{2E8E6A5E-E51F-D208-DB1A-FB3824805ED7}"/>
              </a:ext>
            </a:extLst>
          </p:cNvPr>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a:t>Presenter notes</a:t>
            </a:r>
          </a:p>
          <a:p>
            <a:pPr marL="0" indent="0">
              <a:buNone/>
            </a:pPr>
            <a:endParaRPr lang="en-US"/>
          </a:p>
          <a:p>
            <a:pPr marL="0" indent="0">
              <a:buNone/>
            </a:pPr>
            <a:r>
              <a:rPr lang="en-US"/>
              <a:t>Use this slide to guide the leadership team through The operating model directly resolves WorldVisitz’s delivery risks. Explain the main point in plain language, then connect it to the WorldVisitz mobile-launch scenario. Recommendations and justifications for WorldVisitz The recommended combination addresses both the business need for incremental launch and the teams current weaknesses.</a:t>
            </a:r>
          </a:p>
          <a:p>
            <a:pPr marL="0" indent="0">
              <a:buNone/>
            </a:pPr>
            <a:r>
              <a:rPr lang="en-US"/>
              <a:t>18-month all-at-once plan</a:t>
            </a:r>
          </a:p>
          <a:p>
            <a:pPr marL="0" indent="0">
              <a:buNone/>
            </a:pPr>
            <a:r>
              <a:rPr lang="en-US"/>
              <a:t>thin slices and Sprint Reviews allow staged launch decisions</a:t>
            </a:r>
          </a:p>
          <a:p>
            <a:pPr marL="0" indent="0">
              <a:buNone/>
            </a:pPr>
            <a:r>
              <a:rPr lang="en-US"/>
              <a:t>USA India knowledge gap and mistrust</a:t>
            </a:r>
          </a:p>
          <a:p>
            <a:pPr marL="0" indent="0">
              <a:buNone/>
            </a:pPr>
            <a:r>
              <a:rPr lang="en-US"/>
              <a:t>cross-location pairing and collective ownership</a:t>
            </a:r>
          </a:p>
          <a:p>
            <a:pPr marL="0" indent="0">
              <a:buNone/>
            </a:pPr>
            <a:r>
              <a:rPr lang="en-US"/>
              <a:t>Inconsistent standards and late test cycle</a:t>
            </a:r>
          </a:p>
          <a:p>
            <a:pPr marL="0" indent="0">
              <a:buNone/>
            </a:pPr>
            <a:r>
              <a:rPr lang="en-US"/>
              <a:t>Definition of Done, CI, automated tests, and tester involvement throughout</a:t>
            </a:r>
          </a:p>
          <a:p>
            <a:pPr marL="0" indent="0">
              <a:buNone/>
            </a:pPr>
            <a:r>
              <a:rPr lang="en-US"/>
              <a:t>Siloed upfront requirements   </a:t>
            </a:r>
          </a:p>
          <a:p>
            <a:pPr marL="0" indent="0">
              <a:buNone/>
            </a:pPr>
            <a:r>
              <a:rPr lang="en-US"/>
              <a:t>Product Owner, refinement, and stakeholder feedback each Sprint</a:t>
            </a:r>
          </a:p>
          <a:p>
            <a:pPr marL="0" indent="0">
              <a:buNone/>
            </a:pPr>
            <a:endParaRPr lang="en-US"/>
          </a:p>
          <a:p>
            <a:pPr marL="0" indent="0">
              <a:buNone/>
            </a:pPr>
            <a:r>
              <a:rPr lang="en-US"/>
              <a:t>Pause for questions and emphasize how this point supports predictable, value-driven delivery.</a:t>
            </a:r>
            <a:endParaRPr/>
          </a:p>
        </p:txBody>
      </p:sp>
    </p:spTree>
    <p:extLst>
      <p:ext uri="{BB962C8B-B14F-4D97-AF65-F5344CB8AC3E}">
        <p14:creationId xmlns:p14="http://schemas.microsoft.com/office/powerpoint/2010/main" val="38571506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a:extLst>
            <a:ext uri="{FF2B5EF4-FFF2-40B4-BE49-F238E27FC236}">
              <a16:creationId xmlns:a16="http://schemas.microsoft.com/office/drawing/2014/main" id="{135B2ABE-E5A8-C08D-A60F-47CF9D789858}"/>
            </a:ext>
          </a:extLst>
        </p:cNvPr>
        <p:cNvGrpSpPr/>
        <p:nvPr/>
      </p:nvGrpSpPr>
      <p:grpSpPr>
        <a:xfrm>
          <a:off x="0" y="0"/>
          <a:ext cx="0" cy="0"/>
          <a:chOff x="0" y="0"/>
          <a:chExt cx="0" cy="0"/>
        </a:xfrm>
      </p:grpSpPr>
      <p:sp>
        <p:nvSpPr>
          <p:cNvPr id="204" name="Google Shape;204;g151d3f39dfa_0_63:notes">
            <a:extLst>
              <a:ext uri="{FF2B5EF4-FFF2-40B4-BE49-F238E27FC236}">
                <a16:creationId xmlns:a16="http://schemas.microsoft.com/office/drawing/2014/main" id="{01D49AE5-B7CC-BA66-372B-366D064FAF75}"/>
              </a:ext>
            </a:extLst>
          </p:cNvPr>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151d3f39dfa_0_63:notes">
            <a:extLst>
              <a:ext uri="{FF2B5EF4-FFF2-40B4-BE49-F238E27FC236}">
                <a16:creationId xmlns:a16="http://schemas.microsoft.com/office/drawing/2014/main" id="{DE0E84D1-588D-4991-8214-A7AD954AF17A}"/>
              </a:ext>
            </a:extLst>
          </p:cNvPr>
          <p:cNvSpPr txBox="1">
            <a:spLocks noGrp="1"/>
          </p:cNvSpPr>
          <p:nvPr>
            <p:ph type="body" idx="1"/>
          </p:nvPr>
        </p:nvSpPr>
        <p:spPr>
          <a:xfrm>
            <a:off x="731520" y="4560570"/>
            <a:ext cx="5852160" cy="4320540"/>
          </a:xfrm>
          <a:prstGeom prst="rect">
            <a:avLst/>
          </a:prstGeom>
        </p:spPr>
        <p:txBody>
          <a:bodyPr spcFirstLastPara="1" wrap="square" lIns="96645" tIns="96645" rIns="96645" bIns="96645" anchor="t" anchorCtr="0">
            <a:noAutofit/>
          </a:bodyPr>
          <a:lstStyle/>
          <a:p>
            <a:pPr marL="0" indent="0">
              <a:buNone/>
            </a:pPr>
            <a:r>
              <a:rPr lang="en-US" dirty="0"/>
              <a:t>Presenter notes</a:t>
            </a:r>
          </a:p>
          <a:p>
            <a:pPr marL="0" indent="0">
              <a:buNone/>
            </a:pPr>
            <a:endParaRPr lang="en-US" dirty="0"/>
          </a:p>
          <a:p>
            <a:pPr marL="0" indent="0">
              <a:buNone/>
            </a:pPr>
            <a:r>
              <a:rPr lang="en-US" dirty="0"/>
              <a:t>Use this slide to guide the leadership team through A first increment proves the end-to-end booking value chain. Explain the main point in plain language, then connect it to the </a:t>
            </a:r>
            <a:r>
              <a:rPr lang="en-US" dirty="0" err="1"/>
              <a:t>WorldVisitz</a:t>
            </a:r>
            <a:r>
              <a:rPr lang="en-US" dirty="0"/>
              <a:t> mobile-launch scenario. Recommendations and justifications for </a:t>
            </a:r>
            <a:r>
              <a:rPr lang="en-US" dirty="0" err="1"/>
              <a:t>WorldVisitz</a:t>
            </a:r>
            <a:r>
              <a:rPr lang="en-US" dirty="0"/>
              <a:t> Start with a narrow, releasable flight-search-and-purchase slice, then expand integrations and predictive offers through the backlog.</a:t>
            </a:r>
          </a:p>
          <a:p>
            <a:pPr marL="0" indent="0">
              <a:buNone/>
            </a:pPr>
            <a:endParaRPr lang="en-US" dirty="0"/>
          </a:p>
          <a:p>
            <a:pPr marL="0" indent="0">
              <a:buNone/>
            </a:pPr>
            <a:r>
              <a:rPr lang="en-US" dirty="0"/>
              <a:t>- Sprint 1-2: search criteria, a selected airline path, and a secure-card purchase slice</a:t>
            </a:r>
          </a:p>
          <a:p>
            <a:pPr marL="0" indent="0">
              <a:buNone/>
            </a:pPr>
            <a:r>
              <a:rPr lang="en-US" dirty="0"/>
              <a:t>- Next: broaden airline coverage and add hotel, car, insurance, and package partners</a:t>
            </a:r>
          </a:p>
          <a:p>
            <a:pPr marL="0" indent="0">
              <a:buNone/>
            </a:pPr>
            <a:r>
              <a:rPr lang="en-US" dirty="0"/>
              <a:t>- Then: measure and improve predictive upsell offers with real customer behavior</a:t>
            </a:r>
          </a:p>
          <a:p>
            <a:pPr marL="0" indent="0">
              <a:buNone/>
            </a:pPr>
            <a:r>
              <a:rPr lang="en-US" dirty="0"/>
              <a:t>- Every increment meets the Definition of Done: reviewed, tested, integrated, demonstrated</a:t>
            </a:r>
          </a:p>
          <a:p>
            <a:pPr marL="0" indent="0">
              <a:buNone/>
            </a:pPr>
            <a:endParaRPr lang="en-US" dirty="0"/>
          </a:p>
          <a:p>
            <a:pPr marL="0" indent="0">
              <a:buNone/>
            </a:pPr>
            <a:r>
              <a:rPr lang="en-US" dirty="0"/>
              <a:t>Thank everyone for joining and allow questions. </a:t>
            </a:r>
            <a:endParaRPr dirty="0"/>
          </a:p>
        </p:txBody>
      </p:sp>
    </p:spTree>
    <p:extLst>
      <p:ext uri="{BB962C8B-B14F-4D97-AF65-F5344CB8AC3E}">
        <p14:creationId xmlns:p14="http://schemas.microsoft.com/office/powerpoint/2010/main" val="32729985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54"/>
        <p:cNvGrpSpPr/>
        <p:nvPr/>
      </p:nvGrpSpPr>
      <p:grpSpPr>
        <a:xfrm>
          <a:off x="0" y="0"/>
          <a:ext cx="0" cy="0"/>
          <a:chOff x="0" y="0"/>
          <a:chExt cx="0" cy="0"/>
        </a:xfrm>
      </p:grpSpPr>
      <p:pic>
        <p:nvPicPr>
          <p:cNvPr id="55" name="Google Shape;55;p14"/>
          <p:cNvPicPr preferRelativeResize="0"/>
          <p:nvPr/>
        </p:nvPicPr>
        <p:blipFill rotWithShape="1">
          <a:blip r:embed="rId2">
            <a:alphaModFix/>
          </a:blip>
          <a:srcRect r="7800" b="7535"/>
          <a:stretch/>
        </p:blipFill>
        <p:spPr>
          <a:xfrm>
            <a:off x="6579650" y="2571750"/>
            <a:ext cx="2564400" cy="2571900"/>
          </a:xfrm>
          <a:prstGeom prst="rect">
            <a:avLst/>
          </a:prstGeom>
          <a:noFill/>
          <a:ln>
            <a:noFill/>
          </a:ln>
        </p:spPr>
      </p:pic>
      <p:sp>
        <p:nvSpPr>
          <p:cNvPr id="56" name="Google Shape;56;p14"/>
          <p:cNvSpPr txBox="1">
            <a:spLocks noGrp="1"/>
          </p:cNvSpPr>
          <p:nvPr>
            <p:ph type="title"/>
          </p:nvPr>
        </p:nvSpPr>
        <p:spPr>
          <a:xfrm>
            <a:off x="457200" y="834727"/>
            <a:ext cx="8229600" cy="13893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57" name="Google Shape;57;p14"/>
          <p:cNvSpPr txBox="1">
            <a:spLocks noGrp="1"/>
          </p:cNvSpPr>
          <p:nvPr>
            <p:ph type="body" idx="1"/>
          </p:nvPr>
        </p:nvSpPr>
        <p:spPr>
          <a:xfrm>
            <a:off x="457200" y="2195513"/>
            <a:ext cx="5038800" cy="10035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1pPr>
            <a:lvl2pPr marL="914400" marR="0" lvl="1"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2pPr>
            <a:lvl3pPr marL="1371600" marR="0" lvl="2"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3pPr>
            <a:lvl4pPr marL="1828800" marR="0" lvl="3"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4pPr>
            <a:lvl5pPr marL="2286000" marR="0" lvl="4"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9pPr>
          </a:lstStyle>
          <a:p>
            <a:endParaRPr/>
          </a:p>
        </p:txBody>
      </p:sp>
      <p:sp>
        <p:nvSpPr>
          <p:cNvPr id="58" name="Google Shape;58;p14"/>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gue" type="tx">
  <p:cSld name="TITLE_AND_BODY">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61" name="Google Shape;61;p15"/>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p:cSld name="Title">
    <p:bg>
      <p:bgPr>
        <a:solidFill>
          <a:srgbClr val="FFFFFF"/>
        </a:solidFill>
        <a:effectLst/>
      </p:bgPr>
    </p:bg>
    <p:spTree>
      <p:nvGrpSpPr>
        <p:cNvPr id="1" name="Shape 62"/>
        <p:cNvGrpSpPr/>
        <p:nvPr/>
      </p:nvGrpSpPr>
      <p:grpSpPr>
        <a:xfrm>
          <a:off x="0" y="0"/>
          <a:ext cx="0" cy="0"/>
          <a:chOff x="0" y="0"/>
          <a:chExt cx="0" cy="0"/>
        </a:xfrm>
      </p:grpSpPr>
      <p:sp>
        <p:nvSpPr>
          <p:cNvPr id="63" name="Google Shape;63;p16"/>
          <p:cNvSpPr txBox="1">
            <a:spLocks noGrp="1"/>
          </p:cNvSpPr>
          <p:nvPr>
            <p:ph type="body" idx="1"/>
          </p:nvPr>
        </p:nvSpPr>
        <p:spPr>
          <a:xfrm>
            <a:off x="457200" y="914251"/>
            <a:ext cx="8229600" cy="3096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64" name="Google Shape;64;p16"/>
          <p:cNvSpPr txBox="1">
            <a:spLocks noGrp="1"/>
          </p:cNvSpPr>
          <p:nvPr>
            <p:ph type="body" idx="2"/>
          </p:nvPr>
        </p:nvSpPr>
        <p:spPr>
          <a:xfrm>
            <a:off x="457200" y="4914900"/>
            <a:ext cx="3957600" cy="1143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7D97AD"/>
              </a:buClr>
              <a:buSzPts val="500"/>
              <a:buFont typeface="Open Sans"/>
              <a:buNone/>
              <a:defRPr sz="700" b="0" i="0" u="none" strike="noStrike" cap="none">
                <a:solidFill>
                  <a:srgbClr val="7D97AD"/>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65" name="Google Shape;65;p16"/>
          <p:cNvSpPr txBox="1">
            <a:spLocks noGrp="1"/>
          </p:cNvSpPr>
          <p:nvPr>
            <p:ph type="title"/>
          </p:nvPr>
        </p:nvSpPr>
        <p:spPr>
          <a:xfrm>
            <a:off x="457200" y="304800"/>
            <a:ext cx="8229600" cy="595200"/>
          </a:xfrm>
          <a:prstGeom prst="rect">
            <a:avLst/>
          </a:prstGeom>
          <a:noFill/>
          <a:ln>
            <a:noFill/>
          </a:ln>
        </p:spPr>
        <p:txBody>
          <a:bodyPr spcFirstLastPara="1" wrap="square" lIns="34275" tIns="34275" rIns="34275" bIns="34275" anchor="t" anchorCtr="0">
            <a:noAutofit/>
          </a:bodyPr>
          <a:lstStyle>
            <a:lvl1pPr marL="0" marR="0" lvl="0" indent="0" algn="l" rtl="0">
              <a:lnSpc>
                <a:spcPct val="100000"/>
              </a:lnSpc>
              <a:spcBef>
                <a:spcPts val="0"/>
              </a:spcBef>
              <a:spcAft>
                <a:spcPts val="0"/>
              </a:spcAft>
              <a:buClr>
                <a:srgbClr val="2D3D4A"/>
              </a:buClr>
              <a:buSzPts val="500"/>
              <a:buFont typeface="Open Sans"/>
              <a:buNone/>
              <a:defRPr sz="3600" b="0" i="0" u="none" strike="noStrike" cap="none">
                <a:solidFill>
                  <a:srgbClr val="2D3D4A"/>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66" name="Google Shape;66;p16"/>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lvl1pPr marL="0" marR="0" lvl="0"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1pPr>
            <a:lvl2pPr marL="0" marR="0" lvl="1"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2pPr>
            <a:lvl3pPr marL="0" marR="0" lvl="2"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3pPr>
            <a:lvl4pPr marL="0" marR="0" lvl="3"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4pPr>
            <a:lvl5pPr marL="0" marR="0" lvl="4"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5pPr>
            <a:lvl6pPr marL="0" marR="0" lvl="5"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6pPr>
            <a:lvl7pPr marL="0" marR="0" lvl="6"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7pPr>
            <a:lvl8pPr marL="0" marR="0" lvl="7"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8pPr>
            <a:lvl9pPr marL="0" marR="0" lvl="8"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solidFill>
                <a:srgbClr val="929292"/>
              </a:solidFill>
            </a:endParaRPr>
          </a:p>
        </p:txBody>
      </p:sp>
      <p:sp>
        <p:nvSpPr>
          <p:cNvPr id="67" name="Google Shape;67;p16"/>
          <p:cNvSpPr txBox="1">
            <a:spLocks noGrp="1"/>
          </p:cNvSpPr>
          <p:nvPr>
            <p:ph type="body" idx="3"/>
          </p:nvPr>
        </p:nvSpPr>
        <p:spPr>
          <a:xfrm>
            <a:off x="457200" y="1715877"/>
            <a:ext cx="8229600" cy="2857800"/>
          </a:xfrm>
          <a:prstGeom prst="rect">
            <a:avLst/>
          </a:prstGeom>
          <a:noFill/>
          <a:ln>
            <a:noFill/>
          </a:ln>
        </p:spPr>
        <p:txBody>
          <a:bodyPr spcFirstLastPara="1" wrap="square" lIns="34275" tIns="34275" rIns="34275" bIns="34275" anchor="ctr" anchorCtr="0">
            <a:noAutofit/>
          </a:bodyPr>
          <a:lstStyle>
            <a:lvl1pPr marL="457200" marR="0" lvl="0"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gue with Subtitle">
  <p:cSld name="Segue with Subtitle">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70" name="Google Shape;70;p17"/>
          <p:cNvSpPr txBox="1">
            <a:spLocks noGrp="1"/>
          </p:cNvSpPr>
          <p:nvPr>
            <p:ph type="body" idx="1"/>
          </p:nvPr>
        </p:nvSpPr>
        <p:spPr>
          <a:xfrm>
            <a:off x="457200" y="2633663"/>
            <a:ext cx="8229600" cy="13908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1pPr>
            <a:lvl2pPr marL="914400" marR="0" lvl="1"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2pPr>
            <a:lvl3pPr marL="1371600" marR="0" lvl="2"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3pPr>
            <a:lvl4pPr marL="1828800" marR="0" lvl="3"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4pPr>
            <a:lvl5pPr marL="2286000" marR="0" lvl="4" indent="-228600" algn="l" rtl="0">
              <a:lnSpc>
                <a:spcPct val="131250"/>
              </a:lnSpc>
              <a:spcBef>
                <a:spcPts val="0"/>
              </a:spcBef>
              <a:spcAft>
                <a:spcPts val="0"/>
              </a:spcAft>
              <a:buClr>
                <a:srgbClr val="9CBDD8"/>
              </a:buClr>
              <a:buSzPts val="500"/>
              <a:buFont typeface="Open Sans"/>
              <a:buNone/>
              <a:defRPr sz="2400" b="0" i="0" u="none" strike="noStrike" cap="none">
                <a:solidFill>
                  <a:srgbClr val="9CBDD8"/>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71" name="Google Shape;71;p17"/>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gue with Subtitle Light">
  <p:cSld name="Segue with Subtitle Light">
    <p:bg>
      <p:bgPr>
        <a:solidFill>
          <a:srgbClr val="02B3E4"/>
        </a:solidFill>
        <a:effectLst/>
      </p:bgPr>
    </p:bg>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74" name="Google Shape;74;p18"/>
          <p:cNvSpPr txBox="1">
            <a:spLocks noGrp="1"/>
          </p:cNvSpPr>
          <p:nvPr>
            <p:ph type="body" idx="1"/>
          </p:nvPr>
        </p:nvSpPr>
        <p:spPr>
          <a:xfrm>
            <a:off x="457200" y="2633663"/>
            <a:ext cx="8229600" cy="13908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1pPr>
            <a:lvl2pPr marL="914400" marR="0" lvl="1"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2pPr>
            <a:lvl3pPr marL="1371600" marR="0" lvl="2"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3pPr>
            <a:lvl4pPr marL="1828800" marR="0" lvl="3"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4pPr>
            <a:lvl5pPr marL="2286000" marR="0" lvl="4" indent="-228600" algn="l" rtl="0">
              <a:lnSpc>
                <a:spcPct val="131250"/>
              </a:lnSpc>
              <a:spcBef>
                <a:spcPts val="0"/>
              </a:spcBef>
              <a:spcAft>
                <a:spcPts val="0"/>
              </a:spcAft>
              <a:buClr>
                <a:srgbClr val="FAFBFC"/>
              </a:buClr>
              <a:buSzPts val="500"/>
              <a:buFont typeface="Open Sans"/>
              <a:buNone/>
              <a:defRPr sz="2400" b="0" i="0" u="none" strike="noStrike" cap="none">
                <a:solidFill>
                  <a:srgbClr val="FAFBFC"/>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75" name="Google Shape;75;p18"/>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gue Light">
  <p:cSld name="Segue Light">
    <p:bg>
      <p:bgPr>
        <a:solidFill>
          <a:srgbClr val="02B3E4"/>
        </a:solidFill>
        <a:effectLst/>
      </p:bgPr>
    </p:bg>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78" name="Google Shape;78;p19"/>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p:cSld name="Quote">
    <p:bg>
      <p:bgPr>
        <a:solidFill>
          <a:srgbClr val="FFFFFF"/>
        </a:solidFill>
        <a:effectLst/>
      </p:bgPr>
    </p:bg>
    <p:spTree>
      <p:nvGrpSpPr>
        <p:cNvPr id="1" name="Shape 79"/>
        <p:cNvGrpSpPr/>
        <p:nvPr/>
      </p:nvGrpSpPr>
      <p:grpSpPr>
        <a:xfrm>
          <a:off x="0" y="0"/>
          <a:ext cx="0" cy="0"/>
          <a:chOff x="0" y="0"/>
          <a:chExt cx="0" cy="0"/>
        </a:xfrm>
      </p:grpSpPr>
      <p:sp>
        <p:nvSpPr>
          <p:cNvPr id="80" name="Google Shape;80;p20"/>
          <p:cNvSpPr txBox="1">
            <a:spLocks noGrp="1"/>
          </p:cNvSpPr>
          <p:nvPr>
            <p:ph type="title"/>
          </p:nvPr>
        </p:nvSpPr>
        <p:spPr>
          <a:xfrm>
            <a:off x="457200" y="667978"/>
            <a:ext cx="8229600" cy="2665800"/>
          </a:xfrm>
          <a:prstGeom prst="rect">
            <a:avLst/>
          </a:prstGeom>
          <a:noFill/>
          <a:ln>
            <a:noFill/>
          </a:ln>
        </p:spPr>
        <p:txBody>
          <a:bodyPr spcFirstLastPara="1" wrap="square" lIns="34275" tIns="34275" rIns="34275" bIns="34275" anchor="b" anchorCtr="0">
            <a:noAutofit/>
          </a:bodyPr>
          <a:lstStyle>
            <a:lvl1pPr marL="152400" marR="0" lvl="0" indent="-152400" algn="l" rtl="0">
              <a:lnSpc>
                <a:spcPct val="100000"/>
              </a:lnSpc>
              <a:spcBef>
                <a:spcPts val="0"/>
              </a:spcBef>
              <a:spcAft>
                <a:spcPts val="0"/>
              </a:spcAft>
              <a:buClr>
                <a:srgbClr val="2D3D4A"/>
              </a:buClr>
              <a:buSzPts val="500"/>
              <a:buFont typeface="Open Sans"/>
              <a:buNone/>
              <a:defRPr sz="3600" b="0" i="1" u="none" strike="noStrike" cap="none">
                <a:solidFill>
                  <a:srgbClr val="2D3D4A"/>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81" name="Google Shape;81;p20"/>
          <p:cNvSpPr txBox="1">
            <a:spLocks noGrp="1"/>
          </p:cNvSpPr>
          <p:nvPr>
            <p:ph type="body" idx="1"/>
          </p:nvPr>
        </p:nvSpPr>
        <p:spPr>
          <a:xfrm>
            <a:off x="609600" y="3419475"/>
            <a:ext cx="8077200" cy="7449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1pPr>
            <a:lvl2pPr marL="914400" marR="0" lvl="1"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2pPr>
            <a:lvl3pPr marL="1371600" marR="0" lvl="2"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3pPr>
            <a:lvl4pPr marL="1828800" marR="0" lvl="3"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4pPr>
            <a:lvl5pPr marL="2286000" marR="0" lvl="4" indent="-228600" algn="l" rtl="0">
              <a:lnSpc>
                <a:spcPct val="135416"/>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82" name="Google Shape;82;p20"/>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with Content">
  <p:cSld name="Title with Content">
    <p:bg>
      <p:bgPr>
        <a:solidFill>
          <a:srgbClr val="FFFFFF"/>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body" idx="1"/>
          </p:nvPr>
        </p:nvSpPr>
        <p:spPr>
          <a:xfrm>
            <a:off x="457200" y="914251"/>
            <a:ext cx="8229600" cy="3096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02B3E4"/>
              </a:buClr>
              <a:buSzPts val="500"/>
              <a:buFont typeface="Open Sans"/>
              <a:buNone/>
              <a:defRPr sz="1800" b="0" i="0" u="none" strike="noStrike" cap="none">
                <a:solidFill>
                  <a:srgbClr val="02B3E4"/>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85" name="Google Shape;85;p21"/>
          <p:cNvSpPr txBox="1">
            <a:spLocks noGrp="1"/>
          </p:cNvSpPr>
          <p:nvPr>
            <p:ph type="body" idx="2"/>
          </p:nvPr>
        </p:nvSpPr>
        <p:spPr>
          <a:xfrm>
            <a:off x="457200" y="4914900"/>
            <a:ext cx="3957600" cy="1143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0"/>
              </a:spcBef>
              <a:spcAft>
                <a:spcPts val="0"/>
              </a:spcAft>
              <a:buClr>
                <a:srgbClr val="7D97AD"/>
              </a:buClr>
              <a:buSzPts val="500"/>
              <a:buFont typeface="Open Sans"/>
              <a:buNone/>
              <a:defRPr sz="700" b="0" i="0" u="none" strike="noStrike" cap="none">
                <a:solidFill>
                  <a:srgbClr val="7D97AD"/>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86" name="Google Shape;86;p21"/>
          <p:cNvSpPr txBox="1">
            <a:spLocks noGrp="1"/>
          </p:cNvSpPr>
          <p:nvPr>
            <p:ph type="title"/>
          </p:nvPr>
        </p:nvSpPr>
        <p:spPr>
          <a:xfrm>
            <a:off x="457200" y="304800"/>
            <a:ext cx="8229600" cy="595200"/>
          </a:xfrm>
          <a:prstGeom prst="rect">
            <a:avLst/>
          </a:prstGeom>
          <a:noFill/>
          <a:ln>
            <a:noFill/>
          </a:ln>
        </p:spPr>
        <p:txBody>
          <a:bodyPr spcFirstLastPara="1" wrap="square" lIns="34275" tIns="34275" rIns="34275" bIns="34275" anchor="t" anchorCtr="0">
            <a:noAutofit/>
          </a:bodyPr>
          <a:lstStyle>
            <a:lvl1pPr marL="0" marR="0" lvl="0" indent="0" algn="l" rtl="0">
              <a:lnSpc>
                <a:spcPct val="100000"/>
              </a:lnSpc>
              <a:spcBef>
                <a:spcPts val="0"/>
              </a:spcBef>
              <a:spcAft>
                <a:spcPts val="0"/>
              </a:spcAft>
              <a:buClr>
                <a:srgbClr val="2D3D4A"/>
              </a:buClr>
              <a:buSzPts val="500"/>
              <a:buFont typeface="Open Sans"/>
              <a:buNone/>
              <a:defRPr sz="3600" b="0" i="0" u="none" strike="noStrike" cap="none">
                <a:solidFill>
                  <a:srgbClr val="2D3D4A"/>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87" name="Google Shape;87;p21"/>
          <p:cNvSpPr txBox="1">
            <a:spLocks noGrp="1"/>
          </p:cNvSpPr>
          <p:nvPr>
            <p:ph type="body" idx="3"/>
          </p:nvPr>
        </p:nvSpPr>
        <p:spPr>
          <a:xfrm>
            <a:off x="457200" y="1714500"/>
            <a:ext cx="8229600" cy="28575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700"/>
              </a:spcBef>
              <a:spcAft>
                <a:spcPts val="0"/>
              </a:spcAft>
              <a:buClr>
                <a:srgbClr val="2D3D4A"/>
              </a:buClr>
              <a:buSzPts val="1400"/>
              <a:buFont typeface="Open Sans"/>
              <a:buChar char="•"/>
              <a:defRPr sz="1800" b="0" i="0" u="none" strike="noStrike" cap="none">
                <a:solidFill>
                  <a:srgbClr val="2D3D4A"/>
                </a:solidFill>
                <a:latin typeface="Open Sans"/>
                <a:ea typeface="Open Sans"/>
                <a:cs typeface="Open Sans"/>
                <a:sym typeface="Open Sans"/>
              </a:defRPr>
            </a:lvl1pPr>
            <a:lvl2pPr marL="914400" marR="0" lvl="1" indent="-311150" algn="l" rtl="0">
              <a:lnSpc>
                <a:spcPct val="100000"/>
              </a:lnSpc>
              <a:spcBef>
                <a:spcPts val="700"/>
              </a:spcBef>
              <a:spcAft>
                <a:spcPts val="0"/>
              </a:spcAft>
              <a:buClr>
                <a:srgbClr val="2D3D4A"/>
              </a:buClr>
              <a:buSzPts val="1300"/>
              <a:buFont typeface="Open Sans"/>
              <a:buChar char="–"/>
              <a:defRPr sz="1600" b="0" i="0" u="none" strike="noStrike" cap="none">
                <a:solidFill>
                  <a:srgbClr val="2D3D4A"/>
                </a:solidFill>
                <a:latin typeface="Open Sans"/>
                <a:ea typeface="Open Sans"/>
                <a:cs typeface="Open Sans"/>
                <a:sym typeface="Open Sans"/>
              </a:defRPr>
            </a:lvl2pPr>
            <a:lvl3pPr marL="1371600" marR="0" lvl="2" indent="-298450" algn="l" rtl="0">
              <a:lnSpc>
                <a:spcPct val="100000"/>
              </a:lnSpc>
              <a:spcBef>
                <a:spcPts val="700"/>
              </a:spcBef>
              <a:spcAft>
                <a:spcPts val="0"/>
              </a:spcAft>
              <a:buClr>
                <a:srgbClr val="2D3D4A"/>
              </a:buClr>
              <a:buSzPts val="1100"/>
              <a:buFont typeface="Open Sans"/>
              <a:buChar char="–"/>
              <a:defRPr sz="1400" b="0" i="0" u="none" strike="noStrike" cap="none">
                <a:solidFill>
                  <a:srgbClr val="2D3D4A"/>
                </a:solidFill>
                <a:latin typeface="Open Sans"/>
                <a:ea typeface="Open Sans"/>
                <a:cs typeface="Open Sans"/>
                <a:sym typeface="Open Sans"/>
              </a:defRPr>
            </a:lvl3pPr>
            <a:lvl4pPr marL="1828800" marR="0" lvl="3" indent="-298450" algn="l" rtl="0">
              <a:lnSpc>
                <a:spcPct val="100000"/>
              </a:lnSpc>
              <a:spcBef>
                <a:spcPts val="700"/>
              </a:spcBef>
              <a:spcAft>
                <a:spcPts val="0"/>
              </a:spcAft>
              <a:buClr>
                <a:srgbClr val="2D3D4A"/>
              </a:buClr>
              <a:buSzPts val="1100"/>
              <a:buFont typeface="Open Sans"/>
              <a:buChar char="–"/>
              <a:defRPr sz="1400" b="0" i="0" u="none" strike="noStrike" cap="none">
                <a:solidFill>
                  <a:srgbClr val="2D3D4A"/>
                </a:solidFill>
                <a:latin typeface="Open Sans"/>
                <a:ea typeface="Open Sans"/>
                <a:cs typeface="Open Sans"/>
                <a:sym typeface="Open Sans"/>
              </a:defRPr>
            </a:lvl4pPr>
            <a:lvl5pPr marL="2286000" marR="0" lvl="4" indent="-298450" algn="l" rtl="0">
              <a:lnSpc>
                <a:spcPct val="100000"/>
              </a:lnSpc>
              <a:spcBef>
                <a:spcPts val="700"/>
              </a:spcBef>
              <a:spcAft>
                <a:spcPts val="0"/>
              </a:spcAft>
              <a:buClr>
                <a:srgbClr val="2D3D4A"/>
              </a:buClr>
              <a:buSzPts val="1100"/>
              <a:buFont typeface="Open Sans"/>
              <a:buChar char="–"/>
              <a:defRPr sz="14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88" name="Google Shape;88;p21"/>
          <p:cNvSpPr txBox="1">
            <a:spLocks noGrp="1"/>
          </p:cNvSpPr>
          <p:nvPr>
            <p:ph type="sldNum" idx="12"/>
          </p:nvPr>
        </p:nvSpPr>
        <p:spPr>
          <a:xfrm>
            <a:off x="8635403" y="4914900"/>
            <a:ext cx="102900" cy="114300"/>
          </a:xfrm>
          <a:prstGeom prst="rect">
            <a:avLst/>
          </a:prstGeom>
          <a:noFill/>
          <a:ln>
            <a:noFill/>
          </a:ln>
        </p:spPr>
        <p:txBody>
          <a:bodyPr spcFirstLastPara="1" wrap="square" lIns="0" tIns="0" rIns="0" bIns="0" anchor="t" anchorCtr="0">
            <a:noAutofit/>
          </a:bodyPr>
          <a:lstStyle>
            <a:lvl1pPr marL="0" marR="0" lvl="0"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1pPr>
            <a:lvl2pPr marL="0" marR="0" lvl="1"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2pPr>
            <a:lvl3pPr marL="0" marR="0" lvl="2"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3pPr>
            <a:lvl4pPr marL="0" marR="0" lvl="3"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4pPr>
            <a:lvl5pPr marL="0" marR="0" lvl="4"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5pPr>
            <a:lvl6pPr marL="0" marR="0" lvl="5"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6pPr>
            <a:lvl7pPr marL="0" marR="0" lvl="6"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7pPr>
            <a:lvl8pPr marL="0" marR="0" lvl="7"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8pPr>
            <a:lvl9pPr marL="0" marR="0" lvl="8" indent="0" algn="ctr" rtl="0">
              <a:lnSpc>
                <a:spcPct val="100000"/>
              </a:lnSpc>
              <a:spcBef>
                <a:spcPts val="0"/>
              </a:spcBef>
              <a:spcAft>
                <a:spcPts val="0"/>
              </a:spcAft>
              <a:buClr>
                <a:srgbClr val="7D97AD"/>
              </a:buClr>
              <a:buFont typeface="Open Sans"/>
              <a:buNone/>
              <a:defRPr sz="700" b="0" i="0" u="none" strike="noStrike" cap="none">
                <a:solidFill>
                  <a:srgbClr val="7D97AD"/>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solidFill>
                <a:srgbClr val="929292"/>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p:cSld name="Image">
    <p:bg>
      <p:bgPr>
        <a:solidFill>
          <a:srgbClr val="2D3D4A"/>
        </a:solidFill>
        <a:effectLst/>
      </p:bgPr>
    </p:bg>
    <p:spTree>
      <p:nvGrpSpPr>
        <p:cNvPr id="1" name="Shape 96"/>
        <p:cNvGrpSpPr/>
        <p:nvPr/>
      </p:nvGrpSpPr>
      <p:grpSpPr>
        <a:xfrm>
          <a:off x="0" y="0"/>
          <a:ext cx="0" cy="0"/>
          <a:chOff x="0" y="0"/>
          <a:chExt cx="0" cy="0"/>
        </a:xfrm>
      </p:grpSpPr>
      <p:sp>
        <p:nvSpPr>
          <p:cNvPr id="97" name="Google Shape;97;p23"/>
          <p:cNvSpPr>
            <a:spLocks noGrp="1"/>
          </p:cNvSpPr>
          <p:nvPr>
            <p:ph type="pic" idx="2"/>
          </p:nvPr>
        </p:nvSpPr>
        <p:spPr>
          <a:xfrm>
            <a:off x="0" y="0"/>
            <a:ext cx="9144000" cy="5143500"/>
          </a:xfrm>
          <a:prstGeom prst="rect">
            <a:avLst/>
          </a:prstGeom>
          <a:noFill/>
          <a:ln>
            <a:noFill/>
          </a:ln>
        </p:spPr>
        <p:txBody>
          <a:bodyPr spcFirstLastPara="1" wrap="square" lIns="34275" tIns="34275" rIns="34275" bIns="34275" anchor="t" anchorCtr="0">
            <a:noAutofit/>
          </a:bodyPr>
          <a:lstStyle>
            <a:lvl1pPr marL="0" marR="0" lvl="0"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1pPr>
            <a:lvl2pPr marL="0" marR="0" lvl="1"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0" marR="0" lvl="2"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0" marR="0" lvl="3"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0" marR="0" lvl="4" indent="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0" marR="0" lvl="5" indent="5334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0" marR="0" lvl="6" indent="7112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0" marR="0" lvl="7" indent="8890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0" marR="0" lvl="8" indent="10668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98" name="Google Shape;98;p23"/>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emo">
  <p:cSld name="Demo">
    <p:spTree>
      <p:nvGrpSpPr>
        <p:cNvPr id="1" name="Shape 99"/>
        <p:cNvGrpSpPr/>
        <p:nvPr/>
      </p:nvGrpSpPr>
      <p:grpSpPr>
        <a:xfrm>
          <a:off x="0" y="0"/>
          <a:ext cx="0" cy="0"/>
          <a:chOff x="0" y="0"/>
          <a:chExt cx="0" cy="0"/>
        </a:xfrm>
      </p:grpSpPr>
      <p:pic>
        <p:nvPicPr>
          <p:cNvPr id="100" name="Google Shape;100;p24"/>
          <p:cNvPicPr preferRelativeResize="0"/>
          <p:nvPr/>
        </p:nvPicPr>
        <p:blipFill rotWithShape="1">
          <a:blip r:embed="rId2">
            <a:alphaModFix/>
          </a:blip>
          <a:srcRect r="7800" b="7535"/>
          <a:stretch/>
        </p:blipFill>
        <p:spPr>
          <a:xfrm>
            <a:off x="6579650" y="2571750"/>
            <a:ext cx="2564400" cy="2571900"/>
          </a:xfrm>
          <a:prstGeom prst="rect">
            <a:avLst/>
          </a:prstGeom>
          <a:noFill/>
          <a:ln>
            <a:noFill/>
          </a:ln>
        </p:spPr>
      </p:pic>
      <p:sp>
        <p:nvSpPr>
          <p:cNvPr id="101" name="Google Shape;101;p24"/>
          <p:cNvSpPr txBox="1">
            <a:spLocks noGrp="1"/>
          </p:cNvSpPr>
          <p:nvPr>
            <p:ph type="body" idx="1"/>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457200" marR="0" lvl="0" indent="-2286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2D3D4A"/>
              </a:buClr>
              <a:buSzPts val="500"/>
              <a:buFont typeface="Open Sans"/>
              <a:buNone/>
              <a:defRPr sz="1800" b="0" i="0" u="none" strike="noStrike" cap="none">
                <a:solidFill>
                  <a:srgbClr val="2D3D4A"/>
                </a:solidFill>
                <a:latin typeface="Open Sans"/>
                <a:ea typeface="Open Sans"/>
                <a:cs typeface="Open Sans"/>
                <a:sym typeface="Open Sans"/>
              </a:defRPr>
            </a:lvl9pPr>
          </a:lstStyle>
          <a:p>
            <a:endParaRPr/>
          </a:p>
        </p:txBody>
      </p:sp>
      <p:sp>
        <p:nvSpPr>
          <p:cNvPr id="102" name="Google Shape;102;p24"/>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Logo A Dark">
  <p:cSld name="Logo A Dark">
    <p:spTree>
      <p:nvGrpSpPr>
        <p:cNvPr id="1" name="Shape 103"/>
        <p:cNvGrpSpPr/>
        <p:nvPr/>
      </p:nvGrpSpPr>
      <p:grpSpPr>
        <a:xfrm>
          <a:off x="0" y="0"/>
          <a:ext cx="0" cy="0"/>
          <a:chOff x="0" y="0"/>
          <a:chExt cx="0" cy="0"/>
        </a:xfrm>
      </p:grpSpPr>
      <p:sp>
        <p:nvSpPr>
          <p:cNvPr id="104" name="Google Shape;104;p25"/>
          <p:cNvSpPr/>
          <p:nvPr/>
        </p:nvSpPr>
        <p:spPr>
          <a:xfrm>
            <a:off x="489756" y="4800600"/>
            <a:ext cx="8164500" cy="152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2016 Udacity. All rights reserved.</a:t>
            </a:r>
            <a:endParaRPr sz="500"/>
          </a:p>
        </p:txBody>
      </p:sp>
      <p:sp>
        <p:nvSpPr>
          <p:cNvPr id="105" name="Google Shape;105;p25"/>
          <p:cNvSpPr/>
          <p:nvPr/>
        </p:nvSpPr>
        <p:spPr>
          <a:xfrm>
            <a:off x="3796401" y="3514398"/>
            <a:ext cx="1551300" cy="347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Font typeface="Open Sans"/>
              <a:buNone/>
            </a:pPr>
            <a:r>
              <a:rPr lang="en" sz="1800" b="0" i="0" u="none" strike="noStrike" cap="none">
                <a:solidFill>
                  <a:srgbClr val="FFFFFF"/>
                </a:solidFill>
                <a:latin typeface="Open Sans"/>
                <a:ea typeface="Open Sans"/>
                <a:cs typeface="Open Sans"/>
                <a:sym typeface="Open Sans"/>
              </a:rPr>
              <a:t>Be in Demand</a:t>
            </a:r>
            <a:endParaRPr sz="500"/>
          </a:p>
        </p:txBody>
      </p:sp>
      <p:pic>
        <p:nvPicPr>
          <p:cNvPr id="106" name="Google Shape;106;p25"/>
          <p:cNvPicPr preferRelativeResize="0"/>
          <p:nvPr/>
        </p:nvPicPr>
        <p:blipFill rotWithShape="1">
          <a:blip r:embed="rId2">
            <a:alphaModFix/>
          </a:blip>
          <a:srcRect/>
          <a:stretch/>
        </p:blipFill>
        <p:spPr>
          <a:xfrm>
            <a:off x="3485828" y="1370725"/>
            <a:ext cx="2172300" cy="1941000"/>
          </a:xfrm>
          <a:prstGeom prst="rect">
            <a:avLst/>
          </a:prstGeom>
          <a:noFill/>
          <a:ln>
            <a:noFill/>
          </a:ln>
        </p:spPr>
      </p:pic>
      <p:sp>
        <p:nvSpPr>
          <p:cNvPr id="107" name="Google Shape;107;p25"/>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Logo A Light">
  <p:cSld name="Logo A Light">
    <p:bg>
      <p:bgPr>
        <a:solidFill>
          <a:srgbClr val="02B3E4"/>
        </a:solidFill>
        <a:effectLst/>
      </p:bgPr>
    </p:bg>
    <p:spTree>
      <p:nvGrpSpPr>
        <p:cNvPr id="1" name="Shape 108"/>
        <p:cNvGrpSpPr/>
        <p:nvPr/>
      </p:nvGrpSpPr>
      <p:grpSpPr>
        <a:xfrm>
          <a:off x="0" y="0"/>
          <a:ext cx="0" cy="0"/>
          <a:chOff x="0" y="0"/>
          <a:chExt cx="0" cy="0"/>
        </a:xfrm>
      </p:grpSpPr>
      <p:sp>
        <p:nvSpPr>
          <p:cNvPr id="109" name="Google Shape;109;p26"/>
          <p:cNvSpPr/>
          <p:nvPr/>
        </p:nvSpPr>
        <p:spPr>
          <a:xfrm>
            <a:off x="489756" y="4800600"/>
            <a:ext cx="8164500" cy="152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FAFBFC"/>
              </a:buClr>
              <a:buFont typeface="Open Sans"/>
              <a:buNone/>
            </a:pPr>
            <a:r>
              <a:rPr lang="en" sz="700" b="0" i="0" u="none" strike="noStrike" cap="none">
                <a:solidFill>
                  <a:srgbClr val="FAFBFC"/>
                </a:solidFill>
                <a:latin typeface="Open Sans"/>
                <a:ea typeface="Open Sans"/>
                <a:cs typeface="Open Sans"/>
                <a:sym typeface="Open Sans"/>
              </a:rPr>
              <a:t>© 2016 Udacity. All rights reserved.</a:t>
            </a:r>
            <a:endParaRPr sz="500"/>
          </a:p>
        </p:txBody>
      </p:sp>
      <p:sp>
        <p:nvSpPr>
          <p:cNvPr id="110" name="Google Shape;110;p26"/>
          <p:cNvSpPr/>
          <p:nvPr/>
        </p:nvSpPr>
        <p:spPr>
          <a:xfrm>
            <a:off x="3796401" y="3514725"/>
            <a:ext cx="1551300" cy="347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AFBFC"/>
              </a:buClr>
              <a:buFont typeface="Open Sans"/>
              <a:buNone/>
            </a:pPr>
            <a:r>
              <a:rPr lang="en" sz="1800" b="0" i="0" u="none" strike="noStrike" cap="none">
                <a:solidFill>
                  <a:srgbClr val="FAFBFC"/>
                </a:solidFill>
                <a:latin typeface="Open Sans"/>
                <a:ea typeface="Open Sans"/>
                <a:cs typeface="Open Sans"/>
                <a:sym typeface="Open Sans"/>
              </a:rPr>
              <a:t>Be in Demand</a:t>
            </a:r>
            <a:endParaRPr sz="500"/>
          </a:p>
        </p:txBody>
      </p:sp>
      <p:pic>
        <p:nvPicPr>
          <p:cNvPr id="111" name="Google Shape;111;p26"/>
          <p:cNvPicPr preferRelativeResize="0"/>
          <p:nvPr/>
        </p:nvPicPr>
        <p:blipFill rotWithShape="1">
          <a:blip r:embed="rId2">
            <a:alphaModFix/>
          </a:blip>
          <a:srcRect/>
          <a:stretch/>
        </p:blipFill>
        <p:spPr>
          <a:xfrm>
            <a:off x="3485828" y="1370725"/>
            <a:ext cx="2172300" cy="1941000"/>
          </a:xfrm>
          <a:prstGeom prst="rect">
            <a:avLst/>
          </a:prstGeom>
          <a:noFill/>
          <a:ln>
            <a:noFill/>
          </a:ln>
        </p:spPr>
      </p:pic>
      <p:sp>
        <p:nvSpPr>
          <p:cNvPr id="112" name="Google Shape;112;p26"/>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Logo B Dark">
  <p:cSld name="Logo B Dark">
    <p:spTree>
      <p:nvGrpSpPr>
        <p:cNvPr id="1" name="Shape 113"/>
        <p:cNvGrpSpPr/>
        <p:nvPr/>
      </p:nvGrpSpPr>
      <p:grpSpPr>
        <a:xfrm>
          <a:off x="0" y="0"/>
          <a:ext cx="0" cy="0"/>
          <a:chOff x="0" y="0"/>
          <a:chExt cx="0" cy="0"/>
        </a:xfrm>
      </p:grpSpPr>
      <p:sp>
        <p:nvSpPr>
          <p:cNvPr id="114" name="Google Shape;114;p27"/>
          <p:cNvSpPr/>
          <p:nvPr/>
        </p:nvSpPr>
        <p:spPr>
          <a:xfrm>
            <a:off x="489756" y="4800600"/>
            <a:ext cx="8164500" cy="152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2016 Udacity. All rights reserved.</a:t>
            </a:r>
            <a:endParaRPr sz="500"/>
          </a:p>
        </p:txBody>
      </p:sp>
      <p:sp>
        <p:nvSpPr>
          <p:cNvPr id="115" name="Google Shape;115;p27"/>
          <p:cNvSpPr/>
          <p:nvPr/>
        </p:nvSpPr>
        <p:spPr>
          <a:xfrm>
            <a:off x="3796401" y="3048793"/>
            <a:ext cx="1551300" cy="347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Font typeface="Open Sans"/>
              <a:buNone/>
            </a:pPr>
            <a:r>
              <a:rPr lang="en" sz="1800" b="0" i="0" u="none" strike="noStrike" cap="none">
                <a:solidFill>
                  <a:srgbClr val="FFFFFF"/>
                </a:solidFill>
                <a:latin typeface="Open Sans"/>
                <a:ea typeface="Open Sans"/>
                <a:cs typeface="Open Sans"/>
                <a:sym typeface="Open Sans"/>
              </a:rPr>
              <a:t>Be in Demand</a:t>
            </a:r>
            <a:endParaRPr sz="500"/>
          </a:p>
        </p:txBody>
      </p:sp>
      <p:pic>
        <p:nvPicPr>
          <p:cNvPr id="116" name="Google Shape;116;p27"/>
          <p:cNvPicPr preferRelativeResize="0"/>
          <p:nvPr/>
        </p:nvPicPr>
        <p:blipFill rotWithShape="1">
          <a:blip r:embed="rId2">
            <a:alphaModFix/>
          </a:blip>
          <a:srcRect/>
          <a:stretch/>
        </p:blipFill>
        <p:spPr>
          <a:xfrm>
            <a:off x="2500679" y="2221260"/>
            <a:ext cx="4143300" cy="720000"/>
          </a:xfrm>
          <a:prstGeom prst="rect">
            <a:avLst/>
          </a:prstGeom>
          <a:noFill/>
          <a:ln>
            <a:noFill/>
          </a:ln>
        </p:spPr>
      </p:pic>
      <p:sp>
        <p:nvSpPr>
          <p:cNvPr id="117" name="Google Shape;117;p27"/>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Logo B Light">
  <p:cSld name="Logo B Light">
    <p:bg>
      <p:bgPr>
        <a:solidFill>
          <a:srgbClr val="02B3E4"/>
        </a:solidFill>
        <a:effectLst/>
      </p:bgPr>
    </p:bg>
    <p:spTree>
      <p:nvGrpSpPr>
        <p:cNvPr id="1" name="Shape 118"/>
        <p:cNvGrpSpPr/>
        <p:nvPr/>
      </p:nvGrpSpPr>
      <p:grpSpPr>
        <a:xfrm>
          <a:off x="0" y="0"/>
          <a:ext cx="0" cy="0"/>
          <a:chOff x="0" y="0"/>
          <a:chExt cx="0" cy="0"/>
        </a:xfrm>
      </p:grpSpPr>
      <p:sp>
        <p:nvSpPr>
          <p:cNvPr id="119" name="Google Shape;119;p28"/>
          <p:cNvSpPr/>
          <p:nvPr/>
        </p:nvSpPr>
        <p:spPr>
          <a:xfrm>
            <a:off x="489756" y="4800600"/>
            <a:ext cx="8164500" cy="1524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FAFBFC"/>
              </a:buClr>
              <a:buFont typeface="Open Sans"/>
              <a:buNone/>
            </a:pPr>
            <a:r>
              <a:rPr lang="en" sz="700" b="0" i="0" u="none" strike="noStrike" cap="none">
                <a:solidFill>
                  <a:srgbClr val="FAFBFC"/>
                </a:solidFill>
                <a:latin typeface="Open Sans"/>
                <a:ea typeface="Open Sans"/>
                <a:cs typeface="Open Sans"/>
                <a:sym typeface="Open Sans"/>
              </a:rPr>
              <a:t>© 2016 Udacity. All rights reserved.</a:t>
            </a:r>
            <a:endParaRPr sz="500"/>
          </a:p>
        </p:txBody>
      </p:sp>
      <p:sp>
        <p:nvSpPr>
          <p:cNvPr id="120" name="Google Shape;120;p28"/>
          <p:cNvSpPr/>
          <p:nvPr/>
        </p:nvSpPr>
        <p:spPr>
          <a:xfrm>
            <a:off x="3796401" y="3048793"/>
            <a:ext cx="1551300" cy="347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AFBFC"/>
              </a:buClr>
              <a:buFont typeface="Open Sans"/>
              <a:buNone/>
            </a:pPr>
            <a:r>
              <a:rPr lang="en" sz="1800" b="0" i="0" u="none" strike="noStrike" cap="none">
                <a:solidFill>
                  <a:srgbClr val="FAFBFC"/>
                </a:solidFill>
                <a:latin typeface="Open Sans"/>
                <a:ea typeface="Open Sans"/>
                <a:cs typeface="Open Sans"/>
                <a:sym typeface="Open Sans"/>
              </a:rPr>
              <a:t>Be in Demand</a:t>
            </a:r>
            <a:endParaRPr sz="500"/>
          </a:p>
        </p:txBody>
      </p:sp>
      <p:pic>
        <p:nvPicPr>
          <p:cNvPr id="121" name="Google Shape;121;p28"/>
          <p:cNvPicPr preferRelativeResize="0"/>
          <p:nvPr/>
        </p:nvPicPr>
        <p:blipFill rotWithShape="1">
          <a:blip r:embed="rId2">
            <a:alphaModFix/>
          </a:blip>
          <a:srcRect/>
          <a:stretch/>
        </p:blipFill>
        <p:spPr>
          <a:xfrm>
            <a:off x="2500313" y="2221260"/>
            <a:ext cx="4143300" cy="720000"/>
          </a:xfrm>
          <a:prstGeom prst="rect">
            <a:avLst/>
          </a:prstGeom>
          <a:noFill/>
          <a:ln>
            <a:noFill/>
          </a:ln>
        </p:spPr>
      </p:pic>
      <p:sp>
        <p:nvSpPr>
          <p:cNvPr id="122" name="Google Shape;122;p28"/>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p:cSld name="Blank">
    <p:bg>
      <p:bgPr>
        <a:solidFill>
          <a:srgbClr val="FFFFFF"/>
        </a:solidFill>
        <a:effectLst/>
      </p:bgPr>
    </p:bg>
    <p:spTree>
      <p:nvGrpSpPr>
        <p:cNvPr id="1" name="Shape 123"/>
        <p:cNvGrpSpPr/>
        <p:nvPr/>
      </p:nvGrpSpPr>
      <p:grpSpPr>
        <a:xfrm>
          <a:off x="0" y="0"/>
          <a:ext cx="0" cy="0"/>
          <a:chOff x="0" y="0"/>
          <a:chExt cx="0" cy="0"/>
        </a:xfrm>
      </p:grpSpPr>
      <p:sp>
        <p:nvSpPr>
          <p:cNvPr id="124" name="Google Shape;124;p29"/>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2E3D49"/>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1295400"/>
            <a:ext cx="8229600" cy="1390800"/>
          </a:xfrm>
          <a:prstGeom prst="rect">
            <a:avLst/>
          </a:prstGeom>
          <a:noFill/>
          <a:ln>
            <a:noFill/>
          </a:ln>
        </p:spPr>
        <p:txBody>
          <a:bodyPr spcFirstLastPara="1" wrap="square" lIns="34275" tIns="34275" rIns="34275" bIns="34275" anchor="b" anchorCtr="0">
            <a:noAutofit/>
          </a:bodyPr>
          <a:lstStyle>
            <a:lvl1pPr marL="0" marR="0" lvl="0" indent="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5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52" name="Google Shape;52;p13"/>
          <p:cNvSpPr txBox="1">
            <a:spLocks noGrp="1"/>
          </p:cNvSpPr>
          <p:nvPr>
            <p:ph type="body" idx="1"/>
          </p:nvPr>
        </p:nvSpPr>
        <p:spPr>
          <a:xfrm>
            <a:off x="614363" y="2662238"/>
            <a:ext cx="7915200" cy="1390800"/>
          </a:xfrm>
          <a:prstGeom prst="rect">
            <a:avLst/>
          </a:prstGeom>
          <a:noFill/>
          <a:ln>
            <a:noFill/>
          </a:ln>
        </p:spPr>
        <p:txBody>
          <a:bodyPr spcFirstLastPara="1" wrap="square" lIns="34275" tIns="34275" rIns="34275" bIns="34275" anchor="t" anchorCtr="0">
            <a:noAutofit/>
          </a:bodyPr>
          <a:lstStyle>
            <a:lvl1pPr marL="457200" marR="0" lvl="0"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1pPr>
            <a:lvl2pPr marL="914400" marR="0" lvl="1"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2pPr>
            <a:lvl3pPr marL="1371600" marR="0" lvl="2"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3pPr>
            <a:lvl4pPr marL="1828800" marR="0" lvl="3"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4pPr>
            <a:lvl5pPr marL="2286000" marR="0" lvl="4"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9CBDD8"/>
              </a:buClr>
              <a:buSzPts val="500"/>
              <a:buFont typeface="Open Sans"/>
              <a:buNone/>
              <a:defRPr sz="1800" b="0" i="0" u="none" strike="noStrike" cap="none">
                <a:solidFill>
                  <a:srgbClr val="9CBDD8"/>
                </a:solidFill>
                <a:latin typeface="Open Sans"/>
                <a:ea typeface="Open Sans"/>
                <a:cs typeface="Open Sans"/>
                <a:sym typeface="Open Sans"/>
              </a:defRPr>
            </a:lvl9pPr>
          </a:lstStyle>
          <a:p>
            <a:endParaRPr/>
          </a:p>
        </p:txBody>
      </p:sp>
      <p:sp>
        <p:nvSpPr>
          <p:cNvPr id="53" name="Google Shape;53;p13"/>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sz="5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8" r:id="rId9"/>
    <p:sldLayoutId id="2147483669" r:id="rId10"/>
    <p:sldLayoutId id="2147483670" r:id="rId11"/>
    <p:sldLayoutId id="2147483671" r:id="rId12"/>
    <p:sldLayoutId id="2147483672" r:id="rId13"/>
    <p:sldLayoutId id="2147483673" r:id="rId14"/>
    <p:sldLayoutId id="214748367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30"/>
          <p:cNvSpPr txBox="1">
            <a:spLocks noGrp="1"/>
          </p:cNvSpPr>
          <p:nvPr>
            <p:ph type="title"/>
          </p:nvPr>
        </p:nvSpPr>
        <p:spPr>
          <a:xfrm>
            <a:off x="457200" y="834727"/>
            <a:ext cx="8229600" cy="1389300"/>
          </a:xfrm>
          <a:prstGeom prst="rect">
            <a:avLst/>
          </a:prstGeom>
          <a:noFill/>
          <a:ln>
            <a:noFill/>
          </a:ln>
        </p:spPr>
        <p:txBody>
          <a:bodyPr spcFirstLastPara="1" wrap="square" lIns="0" tIns="0" rIns="0" bIns="0" anchor="b" anchorCtr="0">
            <a:noAutofit/>
          </a:bodyPr>
          <a:lstStyle/>
          <a:p>
            <a:pPr marL="0" marR="0" lvl="0" indent="0" algn="l" rtl="0">
              <a:lnSpc>
                <a:spcPct val="120000"/>
              </a:lnSpc>
              <a:spcBef>
                <a:spcPts val="0"/>
              </a:spcBef>
              <a:spcAft>
                <a:spcPts val="0"/>
              </a:spcAft>
              <a:buClr>
                <a:srgbClr val="FFFFFF"/>
              </a:buClr>
              <a:buFont typeface="Open Sans"/>
              <a:buNone/>
            </a:pPr>
            <a:r>
              <a:rPr lang="en" sz="4200" dirty="0"/>
              <a:t>WorldVisitz Mobile Application Agile Delivery Launch</a:t>
            </a:r>
            <a:endParaRPr sz="4200" dirty="0"/>
          </a:p>
        </p:txBody>
      </p:sp>
      <p:sp>
        <p:nvSpPr>
          <p:cNvPr id="130" name="Google Shape;130;p30"/>
          <p:cNvSpPr txBox="1">
            <a:spLocks noGrp="1"/>
          </p:cNvSpPr>
          <p:nvPr>
            <p:ph type="body" idx="1"/>
          </p:nvPr>
        </p:nvSpPr>
        <p:spPr>
          <a:xfrm>
            <a:off x="457200" y="2195525"/>
            <a:ext cx="5900700" cy="1003500"/>
          </a:xfrm>
          <a:prstGeom prst="rect">
            <a:avLst/>
          </a:prstGeom>
          <a:noFill/>
          <a:ln>
            <a:noFill/>
          </a:ln>
        </p:spPr>
        <p:txBody>
          <a:bodyPr spcFirstLastPara="1" wrap="square" lIns="0" tIns="0" rIns="0" bIns="0" anchor="t" anchorCtr="0">
            <a:noAutofit/>
          </a:bodyPr>
          <a:lstStyle/>
          <a:p>
            <a:pPr marL="0" marR="0" lvl="0" indent="0" algn="l" rtl="0">
              <a:lnSpc>
                <a:spcPct val="131250"/>
              </a:lnSpc>
              <a:spcBef>
                <a:spcPts val="0"/>
              </a:spcBef>
              <a:spcAft>
                <a:spcPts val="0"/>
              </a:spcAft>
              <a:buClr>
                <a:srgbClr val="9CBDD8"/>
              </a:buClr>
              <a:buFont typeface="Open Sans"/>
              <a:buNone/>
            </a:pPr>
            <a:r>
              <a:rPr lang="en" dirty="0"/>
              <a:t>Agile Foundations - Presentation for the Leadership Team</a:t>
            </a:r>
            <a:endParaRPr b="1" dirty="0"/>
          </a:p>
          <a:p>
            <a:pPr marL="0" marR="0" lvl="0" indent="0" algn="l" rtl="0">
              <a:lnSpc>
                <a:spcPct val="131250"/>
              </a:lnSpc>
              <a:spcBef>
                <a:spcPts val="0"/>
              </a:spcBef>
              <a:spcAft>
                <a:spcPts val="0"/>
              </a:spcAft>
              <a:buClr>
                <a:srgbClr val="9CBDD8"/>
              </a:buClr>
              <a:buFont typeface="Open Sans"/>
              <a:buNone/>
            </a:pPr>
            <a:endParaRPr b="1" dirty="0"/>
          </a:p>
          <a:p>
            <a:pPr marL="0" lvl="0" indent="0"/>
            <a:r>
              <a:rPr lang="en" b="1" dirty="0"/>
              <a:t>Presented by: </a:t>
            </a:r>
            <a:r>
              <a:rPr lang="en-US" b="1" dirty="0"/>
              <a:t>Christopher O’Hara, PhD</a:t>
            </a:r>
            <a:endParaRPr sz="500" dirty="0"/>
          </a:p>
        </p:txBody>
      </p:sp>
      <p:sp>
        <p:nvSpPr>
          <p:cNvPr id="131" name="Google Shape;131;p30"/>
          <p:cNvSpPr txBox="1">
            <a:spLocks noGrp="1"/>
          </p:cNvSpPr>
          <p:nvPr>
            <p:ph type="body" idx="4294967295"/>
          </p:nvPr>
        </p:nvSpPr>
        <p:spPr>
          <a:xfrm>
            <a:off x="457200" y="4914900"/>
            <a:ext cx="3957600" cy="114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2019 Udacity.  All rights reserved.</a:t>
            </a:r>
            <a:endParaRPr sz="500"/>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2"/>
          <p:cNvSpPr txBox="1">
            <a:spLocks noGrp="1"/>
          </p:cNvSpPr>
          <p:nvPr>
            <p:ph type="title"/>
          </p:nvPr>
        </p:nvSpPr>
        <p:spPr>
          <a:xfrm>
            <a:off x="457200" y="1876350"/>
            <a:ext cx="8229600" cy="1390800"/>
          </a:xfrm>
          <a:prstGeom prst="rect">
            <a:avLst/>
          </a:prstGeom>
        </p:spPr>
        <p:txBody>
          <a:bodyPr spcFirstLastPara="1" wrap="square" lIns="34275" tIns="34275" rIns="34275" bIns="34275" anchor="b" anchorCtr="0">
            <a:noAutofit/>
          </a:bodyPr>
          <a:lstStyle/>
          <a:p>
            <a:pPr marL="0" lvl="0" indent="0" algn="l" rtl="0">
              <a:spcBef>
                <a:spcPts val="0"/>
              </a:spcBef>
              <a:spcAft>
                <a:spcPts val="0"/>
              </a:spcAft>
              <a:buNone/>
            </a:pPr>
            <a:r>
              <a:rPr lang="en" sz="4200"/>
              <a:t>Part 1: How WorldVisitz Can Benefit From Agile </a:t>
            </a:r>
            <a:endParaRPr sz="4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3"/>
          <p:cNvSpPr txBox="1">
            <a:spLocks noGrp="1"/>
          </p:cNvSpPr>
          <p:nvPr>
            <p:ph type="body" idx="1"/>
          </p:nvPr>
        </p:nvSpPr>
        <p:spPr>
          <a:xfrm>
            <a:off x="457200" y="9142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Agile replaces one 18-month bet with evidence every two weeks</a:t>
            </a:r>
          </a:p>
        </p:txBody>
      </p:sp>
      <p:sp>
        <p:nvSpPr>
          <p:cNvPr id="150" name="Google Shape;150;p33"/>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a:t>What is Agile?</a:t>
            </a:r>
            <a:endParaRPr/>
          </a:p>
        </p:txBody>
      </p:sp>
      <p:sp>
        <p:nvSpPr>
          <p:cNvPr id="151" name="Google Shape;151;p33"/>
          <p:cNvSpPr txBox="1">
            <a:spLocks noGrp="1"/>
          </p:cNvSpPr>
          <p:nvPr>
            <p:ph type="body" idx="3"/>
          </p:nvPr>
        </p:nvSpPr>
        <p:spPr>
          <a:xfrm>
            <a:off x="457200" y="1558037"/>
            <a:ext cx="8229600" cy="3015600"/>
          </a:xfrm>
          <a:prstGeom prst="rect">
            <a:avLst/>
          </a:prstGeom>
        </p:spPr>
        <p:txBody>
          <a:bodyPr spcFirstLastPara="1" wrap="square" lIns="34275" tIns="34275" rIns="34275" bIns="34275" anchor="ctr" anchorCtr="0">
            <a:noAutofit/>
          </a:bodyPr>
          <a:lstStyle/>
          <a:p>
            <a:pPr marL="0" indent="0"/>
            <a:r>
              <a:rPr lang="en-US" dirty="0">
                <a:solidFill>
                  <a:srgbClr val="514231"/>
                </a:solidFill>
                <a:latin typeface="Open Sans" panose="020B0606030504020204" pitchFamily="34" charset="0"/>
              </a:rPr>
              <a:t>Agile is an iterative approach that delivers small, usable increments, learns from users, and adapts the plan.</a:t>
            </a:r>
          </a:p>
          <a:p>
            <a:pPr marL="0" indent="0"/>
            <a:endParaRPr lang="en-US" dirty="0">
              <a:solidFill>
                <a:srgbClr val="514231"/>
              </a:solidFill>
              <a:latin typeface="Open Sans" panose="020B0606030504020204" pitchFamily="34" charset="0"/>
            </a:endParaRPr>
          </a:p>
          <a:p>
            <a:pPr marL="0" indent="0"/>
            <a:r>
              <a:rPr lang="en-US" dirty="0">
                <a:solidFill>
                  <a:srgbClr val="514231"/>
                </a:solidFill>
                <a:latin typeface="Open Sans" panose="020B0606030504020204" pitchFamily="34" charset="0"/>
              </a:rPr>
              <a:t>- Prioritize a thin booking journey before every airline and partner integration</a:t>
            </a:r>
          </a:p>
          <a:p>
            <a:pPr marL="0" indent="0"/>
            <a:r>
              <a:rPr lang="en-US" dirty="0">
                <a:solidFill>
                  <a:srgbClr val="514231"/>
                </a:solidFill>
                <a:latin typeface="Open Sans" panose="020B0606030504020204" pitchFamily="34" charset="0"/>
              </a:rPr>
              <a:t>- Inspect working software with stakeholders; change the backlog when evidence changes</a:t>
            </a:r>
          </a:p>
          <a:p>
            <a:pPr marL="0" indent="0"/>
            <a:r>
              <a:rPr lang="en-US" dirty="0">
                <a:solidFill>
                  <a:srgbClr val="514231"/>
                </a:solidFill>
                <a:latin typeface="Open Sans" panose="020B0606030504020204" pitchFamily="34" charset="0"/>
              </a:rPr>
              <a:t>- Launch valuable capabilities when the business is ready rather than wait for one final release</a:t>
            </a:r>
          </a:p>
          <a:p>
            <a:pPr marL="0" lvl="0" indent="0" algn="l" rtl="0">
              <a:spcBef>
                <a:spcPts val="700"/>
              </a:spcBef>
              <a:spcAft>
                <a:spcPts val="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90D4E252-840C-3B58-A9A1-1827A80D87E3}"/>
            </a:ext>
          </a:extLst>
        </p:cNvPr>
        <p:cNvGrpSpPr/>
        <p:nvPr/>
      </p:nvGrpSpPr>
      <p:grpSpPr>
        <a:xfrm>
          <a:off x="0" y="0"/>
          <a:ext cx="0" cy="0"/>
          <a:chOff x="0" y="0"/>
          <a:chExt cx="0" cy="0"/>
        </a:xfrm>
      </p:grpSpPr>
      <p:sp>
        <p:nvSpPr>
          <p:cNvPr id="148" name="Google Shape;148;p33">
            <a:extLst>
              <a:ext uri="{FF2B5EF4-FFF2-40B4-BE49-F238E27FC236}">
                <a16:creationId xmlns:a16="http://schemas.microsoft.com/office/drawing/2014/main" id="{C0D2C099-E6D8-1A40-FB18-E8D5CA847D2D}"/>
              </a:ext>
            </a:extLst>
          </p:cNvPr>
          <p:cNvSpPr txBox="1">
            <a:spLocks noGrp="1"/>
          </p:cNvSpPr>
          <p:nvPr>
            <p:ph type="body" idx="1"/>
          </p:nvPr>
        </p:nvSpPr>
        <p:spPr>
          <a:xfrm>
            <a:off x="457200" y="9142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The Agile Manifesto puts customer value and learning first</a:t>
            </a:r>
          </a:p>
        </p:txBody>
      </p:sp>
      <p:sp>
        <p:nvSpPr>
          <p:cNvPr id="150" name="Google Shape;150;p33">
            <a:extLst>
              <a:ext uri="{FF2B5EF4-FFF2-40B4-BE49-F238E27FC236}">
                <a16:creationId xmlns:a16="http://schemas.microsoft.com/office/drawing/2014/main" id="{8AB50505-88B5-8298-1D35-BEFE6B6F60CF}"/>
              </a:ext>
            </a:extLst>
          </p:cNvPr>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a:t>What is Agile?</a:t>
            </a:r>
            <a:endParaRPr/>
          </a:p>
        </p:txBody>
      </p:sp>
      <p:sp>
        <p:nvSpPr>
          <p:cNvPr id="151" name="Google Shape;151;p33">
            <a:extLst>
              <a:ext uri="{FF2B5EF4-FFF2-40B4-BE49-F238E27FC236}">
                <a16:creationId xmlns:a16="http://schemas.microsoft.com/office/drawing/2014/main" id="{115902F9-9662-4B30-6B76-983E8BCB6FFF}"/>
              </a:ext>
            </a:extLst>
          </p:cNvPr>
          <p:cNvSpPr txBox="1">
            <a:spLocks noGrp="1"/>
          </p:cNvSpPr>
          <p:nvPr>
            <p:ph type="body" idx="3"/>
          </p:nvPr>
        </p:nvSpPr>
        <p:spPr>
          <a:xfrm>
            <a:off x="457200" y="1558037"/>
            <a:ext cx="8229600" cy="3015600"/>
          </a:xfrm>
          <a:prstGeom prst="rect">
            <a:avLst/>
          </a:prstGeom>
        </p:spPr>
        <p:txBody>
          <a:bodyPr spcFirstLastPara="1" wrap="square" lIns="34275" tIns="34275" rIns="34275" bIns="34275" anchor="ctr" anchorCtr="0">
            <a:noAutofit/>
          </a:bodyPr>
          <a:lstStyle/>
          <a:p>
            <a:pPr marL="0" indent="0"/>
            <a:r>
              <a:rPr lang="en-US" dirty="0">
                <a:solidFill>
                  <a:srgbClr val="514231"/>
                </a:solidFill>
                <a:latin typeface="Open Sans" panose="020B0606030504020204" pitchFamily="34" charset="0"/>
              </a:rPr>
              <a:t>The 2001 Agile Manifesto expresses four value preferences that guide product delivery under uncertainty.</a:t>
            </a:r>
          </a:p>
          <a:p>
            <a:pPr marL="0" indent="0"/>
            <a:endParaRPr lang="en-US" dirty="0">
              <a:solidFill>
                <a:srgbClr val="514231"/>
              </a:solidFill>
              <a:latin typeface="Open Sans" panose="020B0606030504020204" pitchFamily="34" charset="0"/>
            </a:endParaRPr>
          </a:p>
          <a:p>
            <a:pPr marL="0" indent="0"/>
            <a:r>
              <a:rPr lang="en-US" dirty="0">
                <a:solidFill>
                  <a:srgbClr val="514231"/>
                </a:solidFill>
                <a:latin typeface="Open Sans" panose="020B0606030504020204" pitchFamily="34" charset="0"/>
              </a:rPr>
              <a:t>- Individuals and interactions over processes and tools</a:t>
            </a:r>
          </a:p>
          <a:p>
            <a:pPr marL="0" indent="0"/>
            <a:r>
              <a:rPr lang="en-US" dirty="0">
                <a:solidFill>
                  <a:srgbClr val="514231"/>
                </a:solidFill>
                <a:latin typeface="Open Sans" panose="020B0606030504020204" pitchFamily="34" charset="0"/>
              </a:rPr>
              <a:t>- Working software over comprehensive documentation</a:t>
            </a:r>
          </a:p>
          <a:p>
            <a:pPr marL="0" indent="0"/>
            <a:r>
              <a:rPr lang="en-US" dirty="0">
                <a:solidFill>
                  <a:srgbClr val="514231"/>
                </a:solidFill>
                <a:latin typeface="Open Sans" panose="020B0606030504020204" pitchFamily="34" charset="0"/>
              </a:rPr>
              <a:t>- Customer collaboration over contract negotiation</a:t>
            </a:r>
          </a:p>
          <a:p>
            <a:pPr marL="0" indent="0"/>
            <a:r>
              <a:rPr lang="en-US" dirty="0">
                <a:solidFill>
                  <a:srgbClr val="514231"/>
                </a:solidFill>
                <a:latin typeface="Open Sans" panose="020B0606030504020204" pitchFamily="34" charset="0"/>
              </a:rPr>
              <a:t>- Responding to change over following a plan</a:t>
            </a:r>
          </a:p>
          <a:p>
            <a:pPr marL="0" indent="0"/>
            <a:endParaRPr lang="en-US" dirty="0">
              <a:solidFill>
                <a:srgbClr val="514231"/>
              </a:solidFill>
              <a:latin typeface="Open Sans" panose="020B0606030504020204" pitchFamily="34" charset="0"/>
            </a:endParaRPr>
          </a:p>
          <a:p>
            <a:pPr marL="0" lvl="0" indent="0" algn="l" rtl="0">
              <a:spcBef>
                <a:spcPts val="700"/>
              </a:spcBef>
              <a:spcAft>
                <a:spcPts val="0"/>
              </a:spcAft>
              <a:buNone/>
            </a:pPr>
            <a:endParaRPr dirty="0"/>
          </a:p>
        </p:txBody>
      </p:sp>
    </p:spTree>
    <p:extLst>
      <p:ext uri="{BB962C8B-B14F-4D97-AF65-F5344CB8AC3E}">
        <p14:creationId xmlns:p14="http://schemas.microsoft.com/office/powerpoint/2010/main" val="867091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42E209D5-CC2D-332E-BF86-67DB865D6C3F}"/>
            </a:ext>
          </a:extLst>
        </p:cNvPr>
        <p:cNvGrpSpPr/>
        <p:nvPr/>
      </p:nvGrpSpPr>
      <p:grpSpPr>
        <a:xfrm>
          <a:off x="0" y="0"/>
          <a:ext cx="0" cy="0"/>
          <a:chOff x="0" y="0"/>
          <a:chExt cx="0" cy="0"/>
        </a:xfrm>
      </p:grpSpPr>
      <p:sp>
        <p:nvSpPr>
          <p:cNvPr id="157" name="Google Shape;157;p34">
            <a:extLst>
              <a:ext uri="{FF2B5EF4-FFF2-40B4-BE49-F238E27FC236}">
                <a16:creationId xmlns:a16="http://schemas.microsoft.com/office/drawing/2014/main" id="{B862D332-A979-A813-56B6-5057DA744BF5}"/>
              </a:ext>
            </a:extLst>
          </p:cNvPr>
          <p:cNvSpPr txBox="1">
            <a:spLocks noGrp="1"/>
          </p:cNvSpPr>
          <p:nvPr>
            <p:ph type="body" idx="1"/>
          </p:nvPr>
        </p:nvSpPr>
        <p:spPr>
          <a:xfrm>
            <a:off x="457200" y="9142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Agile principles 1-6 make value and feedback routine</a:t>
            </a:r>
          </a:p>
        </p:txBody>
      </p:sp>
      <p:sp>
        <p:nvSpPr>
          <p:cNvPr id="159" name="Google Shape;159;p34">
            <a:extLst>
              <a:ext uri="{FF2B5EF4-FFF2-40B4-BE49-F238E27FC236}">
                <a16:creationId xmlns:a16="http://schemas.microsoft.com/office/drawing/2014/main" id="{7665E4D5-79A2-39C1-7906-DDBD9CE01E9F}"/>
              </a:ext>
            </a:extLst>
          </p:cNvPr>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What is Agile manifesto?</a:t>
            </a:r>
          </a:p>
        </p:txBody>
      </p:sp>
      <p:sp>
        <p:nvSpPr>
          <p:cNvPr id="160" name="Google Shape;160;p34">
            <a:extLst>
              <a:ext uri="{FF2B5EF4-FFF2-40B4-BE49-F238E27FC236}">
                <a16:creationId xmlns:a16="http://schemas.microsoft.com/office/drawing/2014/main" id="{B4CE9620-F8CD-21F9-F88C-6ECBA04BBC75}"/>
              </a:ext>
            </a:extLst>
          </p:cNvPr>
          <p:cNvSpPr txBox="1">
            <a:spLocks noGrp="1"/>
          </p:cNvSpPr>
          <p:nvPr>
            <p:ph type="body" idx="3"/>
          </p:nvPr>
        </p:nvSpPr>
        <p:spPr>
          <a:xfrm>
            <a:off x="457200" y="1715877"/>
            <a:ext cx="8229600" cy="2857800"/>
          </a:xfrm>
          <a:prstGeom prst="rect">
            <a:avLst/>
          </a:prstGeom>
        </p:spPr>
        <p:txBody>
          <a:bodyPr spcFirstLastPara="1" wrap="square" lIns="34275" tIns="34275" rIns="34275" bIns="34275" anchor="ctr" anchorCtr="0">
            <a:noAutofit/>
          </a:bodyPr>
          <a:lstStyle/>
          <a:p>
            <a:pPr marL="0" lvl="0" indent="0" algn="l" rtl="0">
              <a:spcBef>
                <a:spcPts val="700"/>
              </a:spcBef>
              <a:spcAft>
                <a:spcPts val="0"/>
              </a:spcAft>
              <a:buNone/>
            </a:pPr>
            <a:r>
              <a:rPr lang="en-US" dirty="0"/>
              <a:t>The first six principles explain how a team repeatedly delivers and learns.</a:t>
            </a:r>
          </a:p>
          <a:p>
            <a:pPr marL="0" indent="0"/>
            <a:r>
              <a:rPr lang="en-US" dirty="0">
                <a:solidFill>
                  <a:srgbClr val="514231"/>
                </a:solidFill>
                <a:latin typeface="Open Sans" panose="020B0606030504020204" pitchFamily="34" charset="0"/>
              </a:rPr>
              <a:t>1. Satisfy customers through early and continuous delivery</a:t>
            </a:r>
          </a:p>
          <a:p>
            <a:pPr marL="0" indent="0"/>
            <a:r>
              <a:rPr lang="en-US" dirty="0">
                <a:solidFill>
                  <a:srgbClr val="514231"/>
                </a:solidFill>
                <a:latin typeface="Open Sans" panose="020B0606030504020204" pitchFamily="34" charset="0"/>
              </a:rPr>
              <a:t>2. Welcome changing requirements, even late in development</a:t>
            </a:r>
          </a:p>
          <a:p>
            <a:pPr marL="0" indent="0"/>
            <a:r>
              <a:rPr lang="en-US" dirty="0">
                <a:solidFill>
                  <a:srgbClr val="514231"/>
                </a:solidFill>
                <a:latin typeface="Open Sans" panose="020B0606030504020204" pitchFamily="34" charset="0"/>
              </a:rPr>
              <a:t>3. Deliver working software frequently</a:t>
            </a:r>
          </a:p>
          <a:p>
            <a:pPr marL="0" indent="0"/>
            <a:r>
              <a:rPr lang="en-US" dirty="0">
                <a:solidFill>
                  <a:srgbClr val="514231"/>
                </a:solidFill>
                <a:latin typeface="Open Sans" panose="020B0606030504020204" pitchFamily="34" charset="0"/>
              </a:rPr>
              <a:t>4. Business people and developers collaborate daily</a:t>
            </a:r>
          </a:p>
          <a:p>
            <a:pPr marL="0" indent="0"/>
            <a:r>
              <a:rPr lang="en-US" dirty="0">
                <a:solidFill>
                  <a:srgbClr val="514231"/>
                </a:solidFill>
                <a:latin typeface="Open Sans" panose="020B0606030504020204" pitchFamily="34" charset="0"/>
              </a:rPr>
              <a:t>5. Build around motivated people and support them</a:t>
            </a:r>
          </a:p>
          <a:p>
            <a:pPr marL="0" indent="0"/>
            <a:r>
              <a:rPr lang="en-US" dirty="0">
                <a:solidFill>
                  <a:srgbClr val="514231"/>
                </a:solidFill>
                <a:latin typeface="Open Sans" panose="020B0606030504020204" pitchFamily="34" charset="0"/>
              </a:rPr>
              <a:t>6. Prefer direct, timely conversation</a:t>
            </a:r>
          </a:p>
          <a:p>
            <a:pPr marL="0" lvl="0" indent="0" algn="l" rtl="0">
              <a:spcBef>
                <a:spcPts val="700"/>
              </a:spcBef>
              <a:spcAft>
                <a:spcPts val="0"/>
              </a:spcAft>
              <a:buNone/>
            </a:pPr>
            <a:endParaRPr dirty="0"/>
          </a:p>
        </p:txBody>
      </p:sp>
    </p:spTree>
    <p:extLst>
      <p:ext uri="{BB962C8B-B14F-4D97-AF65-F5344CB8AC3E}">
        <p14:creationId xmlns:p14="http://schemas.microsoft.com/office/powerpoint/2010/main" val="1479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06946764-B8CB-E019-BCFD-813882B5B95C}"/>
            </a:ext>
          </a:extLst>
        </p:cNvPr>
        <p:cNvGrpSpPr/>
        <p:nvPr/>
      </p:nvGrpSpPr>
      <p:grpSpPr>
        <a:xfrm>
          <a:off x="0" y="0"/>
          <a:ext cx="0" cy="0"/>
          <a:chOff x="0" y="0"/>
          <a:chExt cx="0" cy="0"/>
        </a:xfrm>
      </p:grpSpPr>
      <p:sp>
        <p:nvSpPr>
          <p:cNvPr id="157" name="Google Shape;157;p34">
            <a:extLst>
              <a:ext uri="{FF2B5EF4-FFF2-40B4-BE49-F238E27FC236}">
                <a16:creationId xmlns:a16="http://schemas.microsoft.com/office/drawing/2014/main" id="{9AA1BE6D-8DB6-29C4-257C-4AE740BC70D2}"/>
              </a:ext>
            </a:extLst>
          </p:cNvPr>
          <p:cNvSpPr txBox="1">
            <a:spLocks noGrp="1"/>
          </p:cNvSpPr>
          <p:nvPr>
            <p:ph type="body" idx="1"/>
          </p:nvPr>
        </p:nvSpPr>
        <p:spPr>
          <a:xfrm>
            <a:off x="457200" y="9142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Agile principles 7-12 make quality sustainable</a:t>
            </a:r>
          </a:p>
        </p:txBody>
      </p:sp>
      <p:sp>
        <p:nvSpPr>
          <p:cNvPr id="159" name="Google Shape;159;p34">
            <a:extLst>
              <a:ext uri="{FF2B5EF4-FFF2-40B4-BE49-F238E27FC236}">
                <a16:creationId xmlns:a16="http://schemas.microsoft.com/office/drawing/2014/main" id="{A64236FC-6A6D-7700-79B4-ED6FCFF46905}"/>
              </a:ext>
            </a:extLst>
          </p:cNvPr>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What is Agile manifesto?</a:t>
            </a:r>
          </a:p>
        </p:txBody>
      </p:sp>
      <p:sp>
        <p:nvSpPr>
          <p:cNvPr id="160" name="Google Shape;160;p34">
            <a:extLst>
              <a:ext uri="{FF2B5EF4-FFF2-40B4-BE49-F238E27FC236}">
                <a16:creationId xmlns:a16="http://schemas.microsoft.com/office/drawing/2014/main" id="{0963B377-AC57-557C-31C4-A749C8FEC9F4}"/>
              </a:ext>
            </a:extLst>
          </p:cNvPr>
          <p:cNvSpPr txBox="1">
            <a:spLocks noGrp="1"/>
          </p:cNvSpPr>
          <p:nvPr>
            <p:ph type="body" idx="3"/>
          </p:nvPr>
        </p:nvSpPr>
        <p:spPr>
          <a:xfrm>
            <a:off x="457200" y="1715877"/>
            <a:ext cx="8229600" cy="2857800"/>
          </a:xfrm>
          <a:prstGeom prst="rect">
            <a:avLst/>
          </a:prstGeom>
        </p:spPr>
        <p:txBody>
          <a:bodyPr spcFirstLastPara="1" wrap="square" lIns="34275" tIns="34275" rIns="34275" bIns="34275" anchor="ctr" anchorCtr="0">
            <a:noAutofit/>
          </a:bodyPr>
          <a:lstStyle/>
          <a:p>
            <a:pPr marL="0" lvl="0" indent="0" algn="l" rtl="0">
              <a:spcBef>
                <a:spcPts val="700"/>
              </a:spcBef>
              <a:spcAft>
                <a:spcPts val="0"/>
              </a:spcAft>
              <a:buNone/>
            </a:pPr>
            <a:r>
              <a:rPr lang="en-US" dirty="0"/>
              <a:t>The remaining principles turn delivery into a durable operating system.</a:t>
            </a:r>
          </a:p>
          <a:p>
            <a:pPr marL="0" indent="0"/>
            <a:r>
              <a:rPr lang="en-US" dirty="0">
                <a:solidFill>
                  <a:srgbClr val="514231"/>
                </a:solidFill>
                <a:latin typeface="Open Sans" panose="020B0606030504020204" pitchFamily="34" charset="0"/>
              </a:rPr>
              <a:t>7. Working software is the primary measure of progress</a:t>
            </a:r>
          </a:p>
          <a:p>
            <a:pPr marL="0" indent="0"/>
            <a:r>
              <a:rPr lang="en-US" dirty="0">
                <a:solidFill>
                  <a:srgbClr val="514231"/>
                </a:solidFill>
                <a:latin typeface="Open Sans" panose="020B0606030504020204" pitchFamily="34" charset="0"/>
              </a:rPr>
              <a:t>8. Maintain a sustainable pace</a:t>
            </a:r>
          </a:p>
          <a:p>
            <a:pPr marL="0" indent="0"/>
            <a:r>
              <a:rPr lang="en-US" dirty="0">
                <a:solidFill>
                  <a:srgbClr val="514231"/>
                </a:solidFill>
                <a:latin typeface="Open Sans" panose="020B0606030504020204" pitchFamily="34" charset="0"/>
              </a:rPr>
              <a:t>9. Technical excellence and good design enhance agility</a:t>
            </a:r>
          </a:p>
          <a:p>
            <a:pPr marL="0" indent="0"/>
            <a:r>
              <a:rPr lang="en-US" dirty="0">
                <a:solidFill>
                  <a:srgbClr val="514231"/>
                </a:solidFill>
                <a:latin typeface="Open Sans" panose="020B0606030504020204" pitchFamily="34" charset="0"/>
              </a:rPr>
              <a:t>10. Simplicity maximizing work not done is essential</a:t>
            </a:r>
          </a:p>
          <a:p>
            <a:pPr marL="0" indent="0"/>
            <a:r>
              <a:rPr lang="en-US" dirty="0">
                <a:solidFill>
                  <a:srgbClr val="514231"/>
                </a:solidFill>
                <a:latin typeface="Open Sans" panose="020B0606030504020204" pitchFamily="34" charset="0"/>
              </a:rPr>
              <a:t>11. Self-organizing teams create the best designs and solutions</a:t>
            </a:r>
          </a:p>
          <a:p>
            <a:pPr marL="0" indent="0"/>
            <a:r>
              <a:rPr lang="en-US" dirty="0">
                <a:solidFill>
                  <a:srgbClr val="514231"/>
                </a:solidFill>
                <a:latin typeface="Open Sans" panose="020B0606030504020204" pitchFamily="34" charset="0"/>
              </a:rPr>
              <a:t>12. Regular reflection improves effectiveness</a:t>
            </a:r>
          </a:p>
        </p:txBody>
      </p:sp>
    </p:spTree>
    <p:extLst>
      <p:ext uri="{BB962C8B-B14F-4D97-AF65-F5344CB8AC3E}">
        <p14:creationId xmlns:p14="http://schemas.microsoft.com/office/powerpoint/2010/main" val="246347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4"/>
          <p:cNvSpPr txBox="1">
            <a:spLocks noGrp="1"/>
          </p:cNvSpPr>
          <p:nvPr>
            <p:ph type="body" idx="1"/>
          </p:nvPr>
        </p:nvSpPr>
        <p:spPr>
          <a:xfrm>
            <a:off x="457200" y="9142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Following the Manifesto is essential for this launch</a:t>
            </a:r>
          </a:p>
        </p:txBody>
      </p:sp>
      <p:sp>
        <p:nvSpPr>
          <p:cNvPr id="159" name="Google Shape;159;p34"/>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a:t>What is Agile manifesto?</a:t>
            </a:r>
            <a:endParaRPr/>
          </a:p>
        </p:txBody>
      </p:sp>
      <p:sp>
        <p:nvSpPr>
          <p:cNvPr id="160" name="Google Shape;160;p34"/>
          <p:cNvSpPr txBox="1">
            <a:spLocks noGrp="1"/>
          </p:cNvSpPr>
          <p:nvPr>
            <p:ph type="body" idx="3"/>
          </p:nvPr>
        </p:nvSpPr>
        <p:spPr>
          <a:xfrm>
            <a:off x="457200" y="1715877"/>
            <a:ext cx="8229600" cy="2857800"/>
          </a:xfrm>
          <a:prstGeom prst="rect">
            <a:avLst/>
          </a:prstGeom>
        </p:spPr>
        <p:txBody>
          <a:bodyPr spcFirstLastPara="1" wrap="square" lIns="34275" tIns="34275" rIns="34275" bIns="34275" anchor="ctr" anchorCtr="0">
            <a:noAutofit/>
          </a:bodyPr>
          <a:lstStyle/>
          <a:p>
            <a:pPr marL="0" indent="0"/>
            <a:r>
              <a:rPr lang="en-US" dirty="0" err="1">
                <a:solidFill>
                  <a:srgbClr val="514231"/>
                </a:solidFill>
                <a:latin typeface="Open Sans" panose="020B0606030504020204" pitchFamily="34" charset="0"/>
              </a:rPr>
              <a:t>WorldVisitz</a:t>
            </a:r>
            <a:r>
              <a:rPr lang="en-US" dirty="0">
                <a:solidFill>
                  <a:srgbClr val="514231"/>
                </a:solidFill>
                <a:latin typeface="Open Sans" panose="020B0606030504020204" pitchFamily="34" charset="0"/>
              </a:rPr>
              <a:t> should follow the Manifesto because it aligns daily choices with learning, quality, and customer value.</a:t>
            </a:r>
          </a:p>
          <a:p>
            <a:pPr marL="0" lvl="0" indent="0" algn="l" rtl="0">
              <a:spcBef>
                <a:spcPts val="700"/>
              </a:spcBef>
              <a:spcAft>
                <a:spcPts val="0"/>
              </a:spcAft>
              <a:buNone/>
            </a:pPr>
            <a:endParaRPr lang="en-US" dirty="0"/>
          </a:p>
          <a:p>
            <a:pPr marL="0" indent="0"/>
            <a:r>
              <a:rPr lang="en-US" dirty="0">
                <a:solidFill>
                  <a:srgbClr val="514231"/>
                </a:solidFill>
                <a:latin typeface="Open Sans" panose="020B0606030504020204" pitchFamily="34" charset="0"/>
              </a:rPr>
              <a:t>- Reason 1: working increments expose airline, payment, and partner risk early</a:t>
            </a:r>
          </a:p>
          <a:p>
            <a:pPr marL="0" indent="0"/>
            <a:r>
              <a:rPr lang="en-US" dirty="0">
                <a:solidFill>
                  <a:srgbClr val="514231"/>
                </a:solidFill>
                <a:latin typeface="Open Sans" panose="020B0606030504020204" pitchFamily="34" charset="0"/>
              </a:rPr>
              <a:t>- Reason 2: customer collaboration validates offers before expensive build-out</a:t>
            </a:r>
          </a:p>
          <a:p>
            <a:pPr marL="0" indent="0"/>
            <a:r>
              <a:rPr lang="en-US" dirty="0">
                <a:solidFill>
                  <a:srgbClr val="514231"/>
                </a:solidFill>
                <a:latin typeface="Open Sans" panose="020B0606030504020204" pitchFamily="34" charset="0"/>
              </a:rPr>
              <a:t>- It replaces silo handoffs with shared accountability across USA and India</a:t>
            </a:r>
          </a:p>
          <a:p>
            <a:pPr marL="0" indent="0"/>
            <a:r>
              <a:rPr lang="en-US" dirty="0">
                <a:solidFill>
                  <a:srgbClr val="514231"/>
                </a:solidFill>
                <a:latin typeface="Open Sans" panose="020B0606030504020204" pitchFamily="34" charset="0"/>
              </a:rPr>
              <a:t>- It keeps plans responsive when travel-market evidence changes</a:t>
            </a:r>
          </a:p>
          <a:p>
            <a:pPr marL="0" lvl="0" indent="0" algn="l" rtl="0">
              <a:spcBef>
                <a:spcPts val="700"/>
              </a:spcBef>
              <a:spcAft>
                <a:spcPts val="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5"/>
          <p:cNvSpPr txBox="1">
            <a:spLocks noGrp="1"/>
          </p:cNvSpPr>
          <p:nvPr>
            <p:ph type="body" idx="1"/>
          </p:nvPr>
        </p:nvSpPr>
        <p:spPr>
          <a:xfrm>
            <a:off x="457200" y="14476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Waterfall delays evidence; Agile uses it to steer</a:t>
            </a:r>
          </a:p>
        </p:txBody>
      </p:sp>
      <p:sp>
        <p:nvSpPr>
          <p:cNvPr id="167" name="Google Shape;167;p35"/>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168" name="Google Shape;168;p35"/>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a:t>Key differences between Agile and Waterfall</a:t>
            </a:r>
            <a:endParaRPr/>
          </a:p>
        </p:txBody>
      </p:sp>
      <p:sp>
        <p:nvSpPr>
          <p:cNvPr id="169" name="Google Shape;169;p35"/>
          <p:cNvSpPr txBox="1">
            <a:spLocks noGrp="1"/>
          </p:cNvSpPr>
          <p:nvPr>
            <p:ph type="body" idx="3"/>
          </p:nvPr>
        </p:nvSpPr>
        <p:spPr>
          <a:xfrm>
            <a:off x="457200" y="1715877"/>
            <a:ext cx="8229600" cy="2857800"/>
          </a:xfrm>
          <a:prstGeom prst="rect">
            <a:avLst/>
          </a:prstGeom>
        </p:spPr>
        <p:txBody>
          <a:bodyPr spcFirstLastPara="1" wrap="square" lIns="34275" tIns="34275" rIns="34275" bIns="34275" anchor="ctr" anchorCtr="0">
            <a:noAutofit/>
          </a:bodyPr>
          <a:lstStyle/>
          <a:p>
            <a:pPr marL="0" indent="0"/>
            <a:endParaRPr lang="en-US" dirty="0">
              <a:solidFill>
                <a:srgbClr val="514231"/>
              </a:solidFill>
              <a:latin typeface="Open Sans" panose="020B0606030504020204" pitchFamily="34" charset="0"/>
            </a:endParaRPr>
          </a:p>
          <a:p>
            <a:pPr marL="0" indent="0"/>
            <a:r>
              <a:rPr lang="en-US" dirty="0">
                <a:solidFill>
                  <a:srgbClr val="514231"/>
                </a:solidFill>
                <a:latin typeface="Open Sans" panose="020B0606030504020204" pitchFamily="34" charset="0"/>
              </a:rPr>
              <a:t>Waterfall optimizes predictability of a fixed plan; Agile optimizes value delivery under changing conditions.</a:t>
            </a:r>
            <a:endParaRPr lang="en-US" dirty="0"/>
          </a:p>
          <a:p>
            <a:pPr marL="0" indent="0"/>
            <a:r>
              <a:rPr lang="en-US" dirty="0">
                <a:solidFill>
                  <a:srgbClr val="514231"/>
                </a:solidFill>
                <a:latin typeface="Open Sans" panose="020B0606030504020204" pitchFamily="34" charset="0"/>
              </a:rPr>
              <a:t>- Waterfall: requirements freeze early, phases hand off, testing and customer feedback arrive late</a:t>
            </a:r>
          </a:p>
          <a:p>
            <a:pPr marL="0" indent="0"/>
            <a:r>
              <a:rPr lang="en-US" dirty="0">
                <a:solidFill>
                  <a:srgbClr val="514231"/>
                </a:solidFill>
                <a:latin typeface="Open Sans" panose="020B0606030504020204" pitchFamily="34" charset="0"/>
              </a:rPr>
              <a:t>- Agile: one ordered backlog, cross-functional work, short feedback cycles, tested increments</a:t>
            </a:r>
          </a:p>
          <a:p>
            <a:pPr marL="0" indent="0"/>
            <a:r>
              <a:rPr lang="en-US" dirty="0">
                <a:solidFill>
                  <a:srgbClr val="514231"/>
                </a:solidFill>
                <a:latin typeface="Open Sans" panose="020B0606030504020204" pitchFamily="34" charset="0"/>
              </a:rPr>
              <a:t>- For </a:t>
            </a:r>
            <a:r>
              <a:rPr lang="en-US" dirty="0" err="1">
                <a:solidFill>
                  <a:srgbClr val="514231"/>
                </a:solidFill>
                <a:latin typeface="Open Sans" panose="020B0606030504020204" pitchFamily="34" charset="0"/>
              </a:rPr>
              <a:t>WorldVisitz</a:t>
            </a:r>
            <a:r>
              <a:rPr lang="en-US" dirty="0">
                <a:solidFill>
                  <a:srgbClr val="514231"/>
                </a:solidFill>
                <a:latin typeface="Open Sans" panose="020B0606030504020204" pitchFamily="34" charset="0"/>
              </a:rPr>
              <a:t>, late discovery of payment or airline integration risk is costly</a:t>
            </a:r>
          </a:p>
          <a:p>
            <a:pPr marL="0" indent="0"/>
            <a:r>
              <a:rPr lang="en-US" dirty="0">
                <a:solidFill>
                  <a:srgbClr val="514231"/>
                </a:solidFill>
                <a:latin typeface="Open Sans" panose="020B0606030504020204" pitchFamily="34" charset="0"/>
              </a:rPr>
              <a:t>- Agile makes that risk visible in a small release slice</a:t>
            </a:r>
          </a:p>
          <a:p>
            <a:pPr marL="0" lvl="0" indent="0" algn="l" rtl="0">
              <a:spcBef>
                <a:spcPts val="700"/>
              </a:spcBef>
              <a:spcAft>
                <a:spcPts val="0"/>
              </a:spcAft>
              <a:buNone/>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6"/>
          <p:cNvSpPr txBox="1">
            <a:spLocks noGrp="1"/>
          </p:cNvSpPr>
          <p:nvPr>
            <p:ph type="body" idx="1"/>
          </p:nvPr>
        </p:nvSpPr>
        <p:spPr>
          <a:xfrm>
            <a:off x="457200" y="14476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Business agility lets </a:t>
            </a:r>
            <a:r>
              <a:rPr lang="en-US" dirty="0" err="1"/>
              <a:t>WorldVisitz</a:t>
            </a:r>
            <a:r>
              <a:rPr lang="en-US" dirty="0"/>
              <a:t> monetize and learn sooner</a:t>
            </a:r>
          </a:p>
        </p:txBody>
      </p:sp>
      <p:sp>
        <p:nvSpPr>
          <p:cNvPr id="176" name="Google Shape;176;p36"/>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177" name="Google Shape;177;p36"/>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a:t>The benefits of Business Agility to WorldVisitz</a:t>
            </a:r>
            <a:endParaRPr/>
          </a:p>
        </p:txBody>
      </p:sp>
      <p:sp>
        <p:nvSpPr>
          <p:cNvPr id="178" name="Google Shape;178;p36"/>
          <p:cNvSpPr txBox="1">
            <a:spLocks noGrp="1"/>
          </p:cNvSpPr>
          <p:nvPr>
            <p:ph type="body" idx="3"/>
          </p:nvPr>
        </p:nvSpPr>
        <p:spPr>
          <a:xfrm>
            <a:off x="457200" y="2083238"/>
            <a:ext cx="8229600" cy="2490300"/>
          </a:xfrm>
          <a:prstGeom prst="rect">
            <a:avLst/>
          </a:prstGeom>
        </p:spPr>
        <p:txBody>
          <a:bodyPr spcFirstLastPara="1" wrap="square" lIns="34275" tIns="34275" rIns="34275" bIns="34275" anchor="ctr" anchorCtr="0">
            <a:noAutofit/>
          </a:bodyPr>
          <a:lstStyle/>
          <a:p>
            <a:pPr marL="0" indent="0"/>
            <a:r>
              <a:rPr lang="en-US" dirty="0">
                <a:solidFill>
                  <a:srgbClr val="514231"/>
                </a:solidFill>
                <a:latin typeface="Open Sans" panose="020B0606030504020204" pitchFamily="34" charset="0"/>
              </a:rPr>
              <a:t>A small release can deliver flight search, a purchase path, and measured upsell learning before the full ecosystem is complete.</a:t>
            </a:r>
          </a:p>
          <a:p>
            <a:pPr marL="0" indent="0"/>
            <a:endParaRPr lang="en-US" dirty="0">
              <a:solidFill>
                <a:srgbClr val="514231"/>
              </a:solidFill>
              <a:latin typeface="Open Sans" panose="020B0606030504020204" pitchFamily="34" charset="0"/>
            </a:endParaRPr>
          </a:p>
          <a:p>
            <a:pPr marL="0" indent="0"/>
            <a:r>
              <a:rPr lang="en-US" sz="1600" dirty="0">
                <a:solidFill>
                  <a:srgbClr val="514231"/>
                </a:solidFill>
                <a:latin typeface="Open Sans" panose="020B0606030504020204" pitchFamily="34" charset="0"/>
              </a:rPr>
              <a:t>- Principle 1: early delivery enables earlier revenue from a usable booking slice</a:t>
            </a:r>
          </a:p>
          <a:p>
            <a:pPr marL="0" indent="0"/>
            <a:r>
              <a:rPr lang="en-US" sz="1600" dirty="0">
                <a:solidFill>
                  <a:srgbClr val="514231"/>
                </a:solidFill>
                <a:latin typeface="Open Sans" panose="020B0606030504020204" pitchFamily="34" charset="0"/>
              </a:rPr>
              <a:t>- Principle 3: frequent increments validate payment, airline, and partner integrations</a:t>
            </a:r>
          </a:p>
          <a:p>
            <a:pPr marL="0" indent="0"/>
            <a:r>
              <a:rPr lang="en-US" sz="1600" dirty="0">
                <a:solidFill>
                  <a:srgbClr val="514231"/>
                </a:solidFill>
                <a:latin typeface="Open Sans" panose="020B0606030504020204" pitchFamily="34" charset="0"/>
              </a:rPr>
              <a:t>- Principle 4: daily collaboration reconnects John, Jerry, Holly, designers, testers, and developers</a:t>
            </a:r>
          </a:p>
          <a:p>
            <a:pPr marL="0" indent="0"/>
            <a:r>
              <a:rPr lang="en-US" sz="1600" dirty="0">
                <a:solidFill>
                  <a:srgbClr val="514231"/>
                </a:solidFill>
                <a:latin typeface="Open Sans" panose="020B0606030504020204" pitchFamily="34" charset="0"/>
              </a:rPr>
              <a:t>- Principle 9: automated tests and shared standards reduce defects and rework</a:t>
            </a:r>
          </a:p>
          <a:p>
            <a:pPr marL="0" lvl="0" indent="0" algn="l" rtl="0">
              <a:spcBef>
                <a:spcPts val="700"/>
              </a:spcBef>
              <a:spcAft>
                <a:spcPts val="0"/>
              </a:spcAf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8"/>
          <p:cNvSpPr txBox="1">
            <a:spLocks noGrp="1"/>
          </p:cNvSpPr>
          <p:nvPr>
            <p:ph type="body" idx="1"/>
          </p:nvPr>
        </p:nvSpPr>
        <p:spPr>
          <a:xfrm>
            <a:off x="457200" y="914251"/>
            <a:ext cx="8229600" cy="3096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US" dirty="0"/>
              <a:t>The Agile umbrella offers complementary strengths</a:t>
            </a:r>
          </a:p>
        </p:txBody>
      </p:sp>
      <p:sp>
        <p:nvSpPr>
          <p:cNvPr id="194" name="Google Shape;194;p38"/>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195" name="Google Shape;195;p38"/>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a:t>What is Agile Umbrella</a:t>
            </a:r>
            <a:endParaRPr/>
          </a:p>
        </p:txBody>
      </p:sp>
      <p:sp>
        <p:nvSpPr>
          <p:cNvPr id="196" name="Google Shape;196;p38"/>
          <p:cNvSpPr txBox="1">
            <a:spLocks noGrp="1"/>
          </p:cNvSpPr>
          <p:nvPr>
            <p:ph type="body" idx="3"/>
          </p:nvPr>
        </p:nvSpPr>
        <p:spPr>
          <a:xfrm>
            <a:off x="457200" y="1715877"/>
            <a:ext cx="8229600" cy="2857800"/>
          </a:xfrm>
          <a:prstGeom prst="rect">
            <a:avLst/>
          </a:prstGeom>
        </p:spPr>
        <p:txBody>
          <a:bodyPr spcFirstLastPara="1" wrap="square" lIns="34275" tIns="34275" rIns="34275" bIns="34275" anchor="ctr" anchorCtr="0">
            <a:noAutofit/>
          </a:bodyPr>
          <a:lstStyle/>
          <a:p>
            <a:pPr marL="0" indent="0"/>
            <a:r>
              <a:rPr lang="en-US" dirty="0">
                <a:solidFill>
                  <a:srgbClr val="514231"/>
                </a:solidFill>
                <a:latin typeface="Open Sans" panose="020B0606030504020204" pitchFamily="34" charset="0"/>
              </a:rPr>
              <a:t>Scrum, Kanban, and XP are compatible approaches; each solves a different delivery need.</a:t>
            </a:r>
          </a:p>
          <a:p>
            <a:pPr marL="0" indent="0"/>
            <a:r>
              <a:rPr lang="en-US" dirty="0">
                <a:solidFill>
                  <a:srgbClr val="514231"/>
                </a:solidFill>
                <a:latin typeface="Open Sans" panose="020B0606030504020204" pitchFamily="34" charset="0"/>
              </a:rPr>
              <a:t>- Scrum: roles, fixed-length Sprints, events, Sprint Goals, and potentially releasable increments</a:t>
            </a:r>
          </a:p>
          <a:p>
            <a:pPr marL="0" indent="0"/>
            <a:r>
              <a:rPr lang="en-US" dirty="0">
                <a:solidFill>
                  <a:srgbClr val="514231"/>
                </a:solidFill>
                <a:latin typeface="Open Sans" panose="020B0606030504020204" pitchFamily="34" charset="0"/>
              </a:rPr>
              <a:t>- Kanban: visual workflow, pull system, explicit policies, and work-in-progress limits</a:t>
            </a:r>
          </a:p>
          <a:p>
            <a:pPr marL="0" indent="0"/>
            <a:r>
              <a:rPr lang="en-US" dirty="0">
                <a:solidFill>
                  <a:srgbClr val="514231"/>
                </a:solidFill>
                <a:latin typeface="Open Sans" panose="020B0606030504020204" pitchFamily="34" charset="0"/>
              </a:rPr>
              <a:t>- XP: engineering practices such as pairing, test-first development, continuous integration, and collective ownership</a:t>
            </a:r>
          </a:p>
          <a:p>
            <a:pPr marL="0" indent="0"/>
            <a:r>
              <a:rPr lang="en-US" dirty="0">
                <a:solidFill>
                  <a:srgbClr val="514231"/>
                </a:solidFill>
                <a:latin typeface="Open Sans" panose="020B0606030504020204" pitchFamily="34" charset="0"/>
              </a:rPr>
              <a:t>- Scrum supplies cadence, Kanban exposes flow, and XP builds technical quality</a:t>
            </a:r>
          </a:p>
          <a:p>
            <a:pPr marL="0" lvl="0" indent="0" algn="l" rtl="0">
              <a:spcBef>
                <a:spcPts val="700"/>
              </a:spcBef>
              <a:spcAft>
                <a:spcPts val="0"/>
              </a:spcAft>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9"/>
          <p:cNvSpPr txBox="1">
            <a:spLocks noGrp="1"/>
          </p:cNvSpPr>
          <p:nvPr>
            <p:ph type="title"/>
          </p:nvPr>
        </p:nvSpPr>
        <p:spPr>
          <a:xfrm>
            <a:off x="457200" y="1876350"/>
            <a:ext cx="8229600" cy="1390800"/>
          </a:xfrm>
          <a:prstGeom prst="rect">
            <a:avLst/>
          </a:prstGeom>
        </p:spPr>
        <p:txBody>
          <a:bodyPr spcFirstLastPara="1" wrap="square" lIns="34275" tIns="34275" rIns="34275" bIns="34275" anchor="b" anchorCtr="0">
            <a:noAutofit/>
          </a:bodyPr>
          <a:lstStyle/>
          <a:p>
            <a:pPr marL="0" lvl="0" indent="0" algn="l" rtl="0">
              <a:spcBef>
                <a:spcPts val="0"/>
              </a:spcBef>
              <a:spcAft>
                <a:spcPts val="0"/>
              </a:spcAft>
              <a:buNone/>
            </a:pPr>
            <a:r>
              <a:rPr lang="en" sz="4200"/>
              <a:t>Part 2: The Optimal Agile Framework for WorldVisitz</a:t>
            </a:r>
            <a:endParaRPr sz="4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40"/>
          <p:cNvSpPr txBox="1">
            <a:spLocks noGrp="1"/>
          </p:cNvSpPr>
          <p:nvPr>
            <p:ph type="body" idx="1"/>
          </p:nvPr>
        </p:nvSpPr>
        <p:spPr>
          <a:xfrm>
            <a:off x="254977" y="1371447"/>
            <a:ext cx="8431823" cy="424371"/>
          </a:xfrm>
          <a:prstGeom prst="rect">
            <a:avLst/>
          </a:prstGeom>
        </p:spPr>
        <p:txBody>
          <a:bodyPr spcFirstLastPara="1" wrap="square" lIns="34275" tIns="34275" rIns="34275" bIns="34275" anchor="t" anchorCtr="0">
            <a:noAutofit/>
          </a:bodyPr>
          <a:lstStyle/>
          <a:p>
            <a:pPr marL="196850" lvl="0" indent="0" algn="l" rtl="0">
              <a:spcBef>
                <a:spcPts val="0"/>
              </a:spcBef>
              <a:spcAft>
                <a:spcPts val="0"/>
              </a:spcAft>
              <a:buSzPts val="500"/>
            </a:pPr>
            <a:r>
              <a:rPr lang="en-US" dirty="0"/>
              <a:t>Recommendation: Scrum, reinforced by XP and Kanban practices</a:t>
            </a:r>
          </a:p>
        </p:txBody>
      </p:sp>
      <p:sp>
        <p:nvSpPr>
          <p:cNvPr id="208" name="Google Shape;208;p40"/>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a:p>
        </p:txBody>
      </p:sp>
      <p:sp>
        <p:nvSpPr>
          <p:cNvPr id="209" name="Google Shape;209;p40"/>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a:t>Recommendations and justifications for WorldVisitz</a:t>
            </a:r>
            <a:endParaRPr/>
          </a:p>
        </p:txBody>
      </p:sp>
      <p:sp>
        <p:nvSpPr>
          <p:cNvPr id="210" name="Google Shape;210;p40"/>
          <p:cNvSpPr txBox="1">
            <a:spLocks noGrp="1"/>
          </p:cNvSpPr>
          <p:nvPr>
            <p:ph type="body" idx="3"/>
          </p:nvPr>
        </p:nvSpPr>
        <p:spPr>
          <a:xfrm>
            <a:off x="457200" y="1881554"/>
            <a:ext cx="8229600" cy="2692221"/>
          </a:xfrm>
          <a:prstGeom prst="rect">
            <a:avLst/>
          </a:prstGeom>
        </p:spPr>
        <p:txBody>
          <a:bodyPr spcFirstLastPara="1" wrap="square" lIns="34275" tIns="34275" rIns="34275" bIns="34275" anchor="ctr" anchorCtr="0">
            <a:noAutofit/>
          </a:bodyPr>
          <a:lstStyle/>
          <a:p>
            <a:pPr marL="0" indent="0"/>
            <a:r>
              <a:rPr lang="en-US" sz="1600" dirty="0">
                <a:solidFill>
                  <a:srgbClr val="514231"/>
                </a:solidFill>
                <a:latin typeface="Open Sans" panose="020B0606030504020204" pitchFamily="34" charset="0"/>
              </a:rPr>
              <a:t>Scrum is the primary framework because executives want a predictable cadence and the team needs clear roles, goals, and inspect-and-adapt events.</a:t>
            </a:r>
          </a:p>
          <a:p>
            <a:pPr marL="0" indent="0"/>
            <a:r>
              <a:rPr lang="en-US" sz="1600" dirty="0">
                <a:solidFill>
                  <a:srgbClr val="514231"/>
                </a:solidFill>
                <a:latin typeface="Open Sans" panose="020B0606030504020204" pitchFamily="34" charset="0"/>
              </a:rPr>
              <a:t>- Two-week Sprints create a dependable review point and a usable increment</a:t>
            </a:r>
          </a:p>
          <a:p>
            <a:pPr marL="0" indent="0"/>
            <a:r>
              <a:rPr lang="en-US" sz="1600" dirty="0">
                <a:solidFill>
                  <a:srgbClr val="514231"/>
                </a:solidFill>
                <a:latin typeface="Open Sans" panose="020B0606030504020204" pitchFamily="34" charset="0"/>
              </a:rPr>
              <a:t>- XP pairing, automated tests, CI, and collective ownership address inconsistent standards and knowledge silos</a:t>
            </a:r>
          </a:p>
          <a:p>
            <a:pPr marL="0" indent="0"/>
            <a:r>
              <a:rPr lang="en-US" sz="1600" dirty="0">
                <a:solidFill>
                  <a:srgbClr val="514231"/>
                </a:solidFill>
                <a:latin typeface="Open Sans" panose="020B0606030504020204" pitchFamily="34" charset="0"/>
              </a:rPr>
              <a:t>- Kanban board and WIP limits expose blocked work and test queues inside the Sprint</a:t>
            </a:r>
          </a:p>
          <a:p>
            <a:pPr marL="0" indent="0"/>
            <a:r>
              <a:rPr lang="en-US" sz="1600" dirty="0">
                <a:solidFill>
                  <a:srgbClr val="514231"/>
                </a:solidFill>
                <a:latin typeface="Open Sans" panose="020B0606030504020204" pitchFamily="34" charset="0"/>
              </a:rPr>
              <a:t>- The Product Backlog keeps features, integrations, and analytics ordered by value</a:t>
            </a:r>
          </a:p>
          <a:p>
            <a:pPr marL="0" indent="0"/>
            <a:endParaRPr lang="en-US" sz="1600" dirty="0">
              <a:solidFill>
                <a:srgbClr val="514231"/>
              </a:solidFill>
              <a:latin typeface="Open Sans" panose="020B0606030504020204" pitchFamily="34" charset="0"/>
            </a:endParaRPr>
          </a:p>
          <a:p>
            <a:pPr marL="0" lvl="0" indent="0" algn="l" rtl="0">
              <a:spcBef>
                <a:spcPts val="700"/>
              </a:spcBef>
              <a:spcAft>
                <a:spcPts val="0"/>
              </a:spcAft>
              <a:buNone/>
            </a:pPr>
            <a:endParaRPr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6">
          <a:extLst>
            <a:ext uri="{FF2B5EF4-FFF2-40B4-BE49-F238E27FC236}">
              <a16:creationId xmlns:a16="http://schemas.microsoft.com/office/drawing/2014/main" id="{083C6BFC-BE9F-C5FE-06F2-6615C012E3F5}"/>
            </a:ext>
          </a:extLst>
        </p:cNvPr>
        <p:cNvGrpSpPr/>
        <p:nvPr/>
      </p:nvGrpSpPr>
      <p:grpSpPr>
        <a:xfrm>
          <a:off x="0" y="0"/>
          <a:ext cx="0" cy="0"/>
          <a:chOff x="0" y="0"/>
          <a:chExt cx="0" cy="0"/>
        </a:xfrm>
      </p:grpSpPr>
      <p:sp>
        <p:nvSpPr>
          <p:cNvPr id="207" name="Google Shape;207;p40">
            <a:extLst>
              <a:ext uri="{FF2B5EF4-FFF2-40B4-BE49-F238E27FC236}">
                <a16:creationId xmlns:a16="http://schemas.microsoft.com/office/drawing/2014/main" id="{F57A257E-9385-8604-4FC0-E3116271C61C}"/>
              </a:ext>
            </a:extLst>
          </p:cNvPr>
          <p:cNvSpPr txBox="1">
            <a:spLocks noGrp="1"/>
          </p:cNvSpPr>
          <p:nvPr>
            <p:ph type="body" idx="1"/>
          </p:nvPr>
        </p:nvSpPr>
        <p:spPr>
          <a:xfrm>
            <a:off x="246185" y="1371447"/>
            <a:ext cx="8440615" cy="424371"/>
          </a:xfrm>
          <a:prstGeom prst="rect">
            <a:avLst/>
          </a:prstGeom>
        </p:spPr>
        <p:txBody>
          <a:bodyPr spcFirstLastPara="1" wrap="square" lIns="34275" tIns="34275" rIns="34275" bIns="34275" anchor="t" anchorCtr="0">
            <a:noAutofit/>
          </a:bodyPr>
          <a:lstStyle/>
          <a:p>
            <a:pPr marL="196850" lvl="0" indent="0" algn="l" rtl="0">
              <a:spcBef>
                <a:spcPts val="0"/>
              </a:spcBef>
              <a:spcAft>
                <a:spcPts val="0"/>
              </a:spcAft>
              <a:buSzPts val="500"/>
            </a:pPr>
            <a:r>
              <a:rPr lang="en-US" dirty="0"/>
              <a:t>The operating model directly resolves </a:t>
            </a:r>
            <a:r>
              <a:rPr lang="en-US" dirty="0" err="1"/>
              <a:t>WorldVisitz’s</a:t>
            </a:r>
            <a:r>
              <a:rPr lang="en-US" dirty="0"/>
              <a:t> delivery risks</a:t>
            </a:r>
          </a:p>
          <a:p>
            <a:pPr marL="196850" lvl="0" indent="0" algn="l" rtl="0">
              <a:spcBef>
                <a:spcPts val="0"/>
              </a:spcBef>
              <a:spcAft>
                <a:spcPts val="0"/>
              </a:spcAft>
              <a:buSzPts val="500"/>
            </a:pPr>
            <a:endParaRPr lang="en-US" dirty="0"/>
          </a:p>
        </p:txBody>
      </p:sp>
      <p:sp>
        <p:nvSpPr>
          <p:cNvPr id="208" name="Google Shape;208;p40">
            <a:extLst>
              <a:ext uri="{FF2B5EF4-FFF2-40B4-BE49-F238E27FC236}">
                <a16:creationId xmlns:a16="http://schemas.microsoft.com/office/drawing/2014/main" id="{15C49861-F698-062D-3530-15B70EC6F52C}"/>
              </a:ext>
            </a:extLst>
          </p:cNvPr>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dirty="0"/>
          </a:p>
        </p:txBody>
      </p:sp>
      <p:sp>
        <p:nvSpPr>
          <p:cNvPr id="209" name="Google Shape;209;p40">
            <a:extLst>
              <a:ext uri="{FF2B5EF4-FFF2-40B4-BE49-F238E27FC236}">
                <a16:creationId xmlns:a16="http://schemas.microsoft.com/office/drawing/2014/main" id="{2145EE59-8287-E911-9A06-F2BF65ADA70F}"/>
              </a:ext>
            </a:extLst>
          </p:cNvPr>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dirty="0"/>
              <a:t>Recommendations and justifications for WorldVisitz</a:t>
            </a:r>
            <a:endParaRPr dirty="0"/>
          </a:p>
        </p:txBody>
      </p:sp>
      <p:sp>
        <p:nvSpPr>
          <p:cNvPr id="210" name="Google Shape;210;p40">
            <a:extLst>
              <a:ext uri="{FF2B5EF4-FFF2-40B4-BE49-F238E27FC236}">
                <a16:creationId xmlns:a16="http://schemas.microsoft.com/office/drawing/2014/main" id="{6FC7A229-EAE3-B0DF-AAFA-88F1192A9957}"/>
              </a:ext>
            </a:extLst>
          </p:cNvPr>
          <p:cNvSpPr txBox="1">
            <a:spLocks noGrp="1"/>
          </p:cNvSpPr>
          <p:nvPr>
            <p:ph type="body" idx="3"/>
          </p:nvPr>
        </p:nvSpPr>
        <p:spPr>
          <a:xfrm>
            <a:off x="457200" y="2001572"/>
            <a:ext cx="8229600" cy="2692221"/>
          </a:xfrm>
          <a:prstGeom prst="rect">
            <a:avLst/>
          </a:prstGeom>
        </p:spPr>
        <p:txBody>
          <a:bodyPr spcFirstLastPara="1" wrap="square" lIns="34275" tIns="34275" rIns="34275" bIns="34275" anchor="ctr" anchorCtr="0">
            <a:noAutofit/>
          </a:bodyPr>
          <a:lstStyle/>
          <a:p>
            <a:pPr marL="0" indent="0"/>
            <a:r>
              <a:rPr lang="en-US" sz="1600" dirty="0">
                <a:solidFill>
                  <a:srgbClr val="514231"/>
                </a:solidFill>
                <a:latin typeface="Open Sans" panose="020B0606030504020204" pitchFamily="34" charset="0"/>
              </a:rPr>
              <a:t>The recommended combination addresses both the business need for incremental launch and the teams current weaknesses.</a:t>
            </a:r>
          </a:p>
          <a:p>
            <a:pPr marL="342900" indent="-342900">
              <a:buSzPct val="100000"/>
              <a:buFont typeface="Arial" panose="020B0604020202020204" pitchFamily="34" charset="0"/>
              <a:buChar char="•"/>
            </a:pPr>
            <a:r>
              <a:rPr lang="en-US" sz="1600" dirty="0">
                <a:solidFill>
                  <a:srgbClr val="514231"/>
                </a:solidFill>
                <a:latin typeface="Open Sans" panose="020B0606030504020204" pitchFamily="34" charset="0"/>
              </a:rPr>
              <a:t>18-month all-at-once plan</a:t>
            </a:r>
          </a:p>
          <a:p>
            <a:pPr marL="800100" lvl="1" indent="-342900">
              <a:buSzPct val="100000"/>
              <a:buFont typeface="Wingdings" panose="05000000000000000000" pitchFamily="2" charset="2"/>
              <a:buChar char="Ø"/>
            </a:pPr>
            <a:r>
              <a:rPr lang="en-US" sz="1400" dirty="0">
                <a:solidFill>
                  <a:srgbClr val="514231"/>
                </a:solidFill>
                <a:latin typeface="Open Sans" panose="020B0606030504020204" pitchFamily="34" charset="0"/>
              </a:rPr>
              <a:t>thin slices and Sprint Reviews allow staged launch decisions</a:t>
            </a:r>
          </a:p>
          <a:p>
            <a:pPr marL="342900" indent="-342900">
              <a:buSzPct val="100000"/>
              <a:buFont typeface="Arial" panose="020B0604020202020204" pitchFamily="34" charset="0"/>
              <a:buChar char="•"/>
            </a:pPr>
            <a:r>
              <a:rPr lang="en-US" sz="1400" dirty="0">
                <a:solidFill>
                  <a:srgbClr val="514231"/>
                </a:solidFill>
                <a:latin typeface="Open Sans" panose="020B0606030504020204" pitchFamily="34" charset="0"/>
              </a:rPr>
              <a:t>USA India knowledge gap and mistrust</a:t>
            </a:r>
          </a:p>
          <a:p>
            <a:pPr marL="800100" lvl="1" indent="-342900">
              <a:buSzPct val="100000"/>
              <a:buFont typeface="Wingdings" panose="05000000000000000000" pitchFamily="2" charset="2"/>
              <a:buChar char="Ø"/>
            </a:pPr>
            <a:r>
              <a:rPr lang="en-US" sz="1400" dirty="0">
                <a:solidFill>
                  <a:srgbClr val="514231"/>
                </a:solidFill>
                <a:latin typeface="Open Sans" panose="020B0606030504020204" pitchFamily="34" charset="0"/>
              </a:rPr>
              <a:t>cross-location pairing and collective ownership</a:t>
            </a:r>
          </a:p>
          <a:p>
            <a:pPr marL="342900" indent="-342900">
              <a:buSzPct val="100000"/>
              <a:buFont typeface="Arial" panose="020B0604020202020204" pitchFamily="34" charset="0"/>
              <a:buChar char="•"/>
            </a:pPr>
            <a:r>
              <a:rPr lang="en-US" sz="1400" dirty="0">
                <a:solidFill>
                  <a:srgbClr val="514231"/>
                </a:solidFill>
                <a:latin typeface="Open Sans" panose="020B0606030504020204" pitchFamily="34" charset="0"/>
              </a:rPr>
              <a:t>Inconsistent standards and late test cycle</a:t>
            </a:r>
          </a:p>
          <a:p>
            <a:pPr marL="800100" lvl="1" indent="-342900">
              <a:buSzPct val="100000"/>
              <a:buFont typeface="Wingdings" panose="05000000000000000000" pitchFamily="2" charset="2"/>
              <a:buChar char="Ø"/>
            </a:pPr>
            <a:r>
              <a:rPr lang="en-US" sz="1400" dirty="0">
                <a:solidFill>
                  <a:srgbClr val="514231"/>
                </a:solidFill>
                <a:latin typeface="Open Sans" panose="020B0606030504020204" pitchFamily="34" charset="0"/>
              </a:rPr>
              <a:t>Definition of Done, CI, automated tests, and tester involvement throughout</a:t>
            </a:r>
          </a:p>
          <a:p>
            <a:pPr marL="342900" indent="-342900">
              <a:buSzPct val="100000"/>
              <a:buFont typeface="Arial" panose="020B0604020202020204" pitchFamily="34" charset="0"/>
              <a:buChar char="•"/>
            </a:pPr>
            <a:r>
              <a:rPr lang="en-US" sz="1400" dirty="0">
                <a:solidFill>
                  <a:srgbClr val="514231"/>
                </a:solidFill>
                <a:latin typeface="Open Sans" panose="020B0606030504020204" pitchFamily="34" charset="0"/>
              </a:rPr>
              <a:t>Siloed upfront requirements   </a:t>
            </a:r>
          </a:p>
          <a:p>
            <a:pPr marL="800100" lvl="1" indent="-342900">
              <a:buSzPct val="100000"/>
              <a:buFont typeface="Wingdings" panose="05000000000000000000" pitchFamily="2" charset="2"/>
              <a:buChar char="Ø"/>
            </a:pPr>
            <a:r>
              <a:rPr lang="en-US" sz="1400" dirty="0">
                <a:solidFill>
                  <a:srgbClr val="514231"/>
                </a:solidFill>
                <a:latin typeface="Open Sans" panose="020B0606030504020204" pitchFamily="34" charset="0"/>
              </a:rPr>
              <a:t>Product Owner, refinement, and stakeholder feedback each Sprint</a:t>
            </a:r>
          </a:p>
          <a:p>
            <a:pPr marL="0" indent="0"/>
            <a:endParaRPr lang="en-US" sz="1600" dirty="0">
              <a:solidFill>
                <a:srgbClr val="514231"/>
              </a:solidFill>
              <a:latin typeface="Open Sans" panose="020B0606030504020204" pitchFamily="34" charset="0"/>
            </a:endParaRPr>
          </a:p>
        </p:txBody>
      </p:sp>
    </p:spTree>
    <p:extLst>
      <p:ext uri="{BB962C8B-B14F-4D97-AF65-F5344CB8AC3E}">
        <p14:creationId xmlns:p14="http://schemas.microsoft.com/office/powerpoint/2010/main" val="833058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6">
          <a:extLst>
            <a:ext uri="{FF2B5EF4-FFF2-40B4-BE49-F238E27FC236}">
              <a16:creationId xmlns:a16="http://schemas.microsoft.com/office/drawing/2014/main" id="{4429B2DE-A0C5-0EF3-6337-1142170E9CC0}"/>
            </a:ext>
          </a:extLst>
        </p:cNvPr>
        <p:cNvGrpSpPr/>
        <p:nvPr/>
      </p:nvGrpSpPr>
      <p:grpSpPr>
        <a:xfrm>
          <a:off x="0" y="0"/>
          <a:ext cx="0" cy="0"/>
          <a:chOff x="0" y="0"/>
          <a:chExt cx="0" cy="0"/>
        </a:xfrm>
      </p:grpSpPr>
      <p:sp>
        <p:nvSpPr>
          <p:cNvPr id="207" name="Google Shape;207;p40">
            <a:extLst>
              <a:ext uri="{FF2B5EF4-FFF2-40B4-BE49-F238E27FC236}">
                <a16:creationId xmlns:a16="http://schemas.microsoft.com/office/drawing/2014/main" id="{CBA54218-AA10-D734-95C2-EAA32294B4B4}"/>
              </a:ext>
            </a:extLst>
          </p:cNvPr>
          <p:cNvSpPr txBox="1">
            <a:spLocks noGrp="1"/>
          </p:cNvSpPr>
          <p:nvPr>
            <p:ph type="body" idx="1"/>
          </p:nvPr>
        </p:nvSpPr>
        <p:spPr>
          <a:xfrm>
            <a:off x="246185" y="1371447"/>
            <a:ext cx="8440615" cy="424371"/>
          </a:xfrm>
          <a:prstGeom prst="rect">
            <a:avLst/>
          </a:prstGeom>
        </p:spPr>
        <p:txBody>
          <a:bodyPr spcFirstLastPara="1" wrap="square" lIns="34275" tIns="34275" rIns="34275" bIns="34275" anchor="t" anchorCtr="0">
            <a:noAutofit/>
          </a:bodyPr>
          <a:lstStyle/>
          <a:p>
            <a:pPr marL="196850" lvl="0" indent="0" algn="l" rtl="0">
              <a:spcBef>
                <a:spcPts val="0"/>
              </a:spcBef>
              <a:spcAft>
                <a:spcPts val="0"/>
              </a:spcAft>
              <a:buSzPts val="500"/>
            </a:pPr>
            <a:r>
              <a:rPr lang="en-US" dirty="0"/>
              <a:t>A first increment proves the end-to-end booking value chain</a:t>
            </a:r>
          </a:p>
        </p:txBody>
      </p:sp>
      <p:sp>
        <p:nvSpPr>
          <p:cNvPr id="208" name="Google Shape;208;p40">
            <a:extLst>
              <a:ext uri="{FF2B5EF4-FFF2-40B4-BE49-F238E27FC236}">
                <a16:creationId xmlns:a16="http://schemas.microsoft.com/office/drawing/2014/main" id="{928AAA9C-4192-089F-6A2A-0AE7A3C9549A}"/>
              </a:ext>
            </a:extLst>
          </p:cNvPr>
          <p:cNvSpPr txBox="1">
            <a:spLocks noGrp="1"/>
          </p:cNvSpPr>
          <p:nvPr>
            <p:ph type="body" idx="2"/>
          </p:nvPr>
        </p:nvSpPr>
        <p:spPr>
          <a:xfrm>
            <a:off x="457200" y="4914900"/>
            <a:ext cx="3957600" cy="1143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endParaRPr dirty="0"/>
          </a:p>
        </p:txBody>
      </p:sp>
      <p:sp>
        <p:nvSpPr>
          <p:cNvPr id="209" name="Google Shape;209;p40">
            <a:extLst>
              <a:ext uri="{FF2B5EF4-FFF2-40B4-BE49-F238E27FC236}">
                <a16:creationId xmlns:a16="http://schemas.microsoft.com/office/drawing/2014/main" id="{350183CE-6D3B-E698-9195-F7504FBA6E39}"/>
              </a:ext>
            </a:extLst>
          </p:cNvPr>
          <p:cNvSpPr txBox="1">
            <a:spLocks noGrp="1"/>
          </p:cNvSpPr>
          <p:nvPr>
            <p:ph type="title"/>
          </p:nvPr>
        </p:nvSpPr>
        <p:spPr>
          <a:xfrm>
            <a:off x="457200" y="304800"/>
            <a:ext cx="8229600" cy="595200"/>
          </a:xfrm>
          <a:prstGeom prst="rect">
            <a:avLst/>
          </a:prstGeom>
        </p:spPr>
        <p:txBody>
          <a:bodyPr spcFirstLastPara="1" wrap="square" lIns="34275" tIns="34275" rIns="34275" bIns="34275" anchor="t" anchorCtr="0">
            <a:noAutofit/>
          </a:bodyPr>
          <a:lstStyle/>
          <a:p>
            <a:pPr marL="0" lvl="0" indent="0" algn="l" rtl="0">
              <a:spcBef>
                <a:spcPts val="0"/>
              </a:spcBef>
              <a:spcAft>
                <a:spcPts val="0"/>
              </a:spcAft>
              <a:buNone/>
            </a:pPr>
            <a:r>
              <a:rPr lang="en" dirty="0"/>
              <a:t>Recommendations and justifications for WorldVisitz</a:t>
            </a:r>
            <a:endParaRPr dirty="0"/>
          </a:p>
        </p:txBody>
      </p:sp>
      <p:sp>
        <p:nvSpPr>
          <p:cNvPr id="210" name="Google Shape;210;p40">
            <a:extLst>
              <a:ext uri="{FF2B5EF4-FFF2-40B4-BE49-F238E27FC236}">
                <a16:creationId xmlns:a16="http://schemas.microsoft.com/office/drawing/2014/main" id="{710655E1-0AD5-69C3-DF32-1BD4DCD003F7}"/>
              </a:ext>
            </a:extLst>
          </p:cNvPr>
          <p:cNvSpPr txBox="1">
            <a:spLocks noGrp="1"/>
          </p:cNvSpPr>
          <p:nvPr>
            <p:ph type="body" idx="3"/>
          </p:nvPr>
        </p:nvSpPr>
        <p:spPr>
          <a:xfrm>
            <a:off x="457200" y="2001572"/>
            <a:ext cx="8229600" cy="2692221"/>
          </a:xfrm>
          <a:prstGeom prst="rect">
            <a:avLst/>
          </a:prstGeom>
        </p:spPr>
        <p:txBody>
          <a:bodyPr spcFirstLastPara="1" wrap="square" lIns="34275" tIns="34275" rIns="34275" bIns="34275" anchor="ctr" anchorCtr="0">
            <a:noAutofit/>
          </a:bodyPr>
          <a:lstStyle/>
          <a:p>
            <a:pPr marL="0" indent="0"/>
            <a:r>
              <a:rPr lang="en-US" sz="1600" dirty="0">
                <a:solidFill>
                  <a:srgbClr val="514231"/>
                </a:solidFill>
                <a:latin typeface="Open Sans" panose="020B0606030504020204" pitchFamily="34" charset="0"/>
              </a:rPr>
              <a:t>Start with a narrow, releasable flight-search-and-purchase slice, then expand integrations and predictive offers through the backlog.</a:t>
            </a:r>
          </a:p>
          <a:p>
            <a:pPr marL="0" indent="0"/>
            <a:endParaRPr lang="en-US" sz="1600" dirty="0">
              <a:solidFill>
                <a:srgbClr val="514231"/>
              </a:solidFill>
              <a:latin typeface="Open Sans" panose="020B0606030504020204" pitchFamily="34" charset="0"/>
            </a:endParaRPr>
          </a:p>
          <a:p>
            <a:pPr marL="0" indent="0"/>
            <a:r>
              <a:rPr lang="en-US" sz="1600" dirty="0">
                <a:solidFill>
                  <a:srgbClr val="514231"/>
                </a:solidFill>
                <a:latin typeface="Open Sans" panose="020B0606030504020204" pitchFamily="34" charset="0"/>
              </a:rPr>
              <a:t>- Sprint 1-2: search criteria, a selected airline path, and a secure-card purchase slice</a:t>
            </a:r>
          </a:p>
          <a:p>
            <a:pPr marL="0" indent="0"/>
            <a:r>
              <a:rPr lang="en-US" sz="1600" dirty="0">
                <a:solidFill>
                  <a:srgbClr val="514231"/>
                </a:solidFill>
                <a:latin typeface="Open Sans" panose="020B0606030504020204" pitchFamily="34" charset="0"/>
              </a:rPr>
              <a:t>- Next: broaden airline coverage and add hotel, car, insurance, and package partners</a:t>
            </a:r>
          </a:p>
          <a:p>
            <a:pPr marL="0" indent="0"/>
            <a:r>
              <a:rPr lang="en-US" sz="1600" dirty="0">
                <a:solidFill>
                  <a:srgbClr val="514231"/>
                </a:solidFill>
                <a:latin typeface="Open Sans" panose="020B0606030504020204" pitchFamily="34" charset="0"/>
              </a:rPr>
              <a:t>- Then: measure and improve predictive upsell offers with real customer behavior</a:t>
            </a:r>
          </a:p>
          <a:p>
            <a:pPr marL="0" indent="0"/>
            <a:r>
              <a:rPr lang="en-US" sz="1600" dirty="0">
                <a:solidFill>
                  <a:srgbClr val="514231"/>
                </a:solidFill>
                <a:latin typeface="Open Sans" panose="020B0606030504020204" pitchFamily="34" charset="0"/>
              </a:rPr>
              <a:t>- Every increment meets the Definition of Done: reviewed, tested, integrated, demonstrated</a:t>
            </a:r>
          </a:p>
        </p:txBody>
      </p:sp>
    </p:spTree>
    <p:extLst>
      <p:ext uri="{BB962C8B-B14F-4D97-AF65-F5344CB8AC3E}">
        <p14:creationId xmlns:p14="http://schemas.microsoft.com/office/powerpoint/2010/main" val="175892400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dacity Template 16x9">
  <a:themeElements>
    <a:clrScheme name="White">
      <a:dk1>
        <a:srgbClr val="2E3D49"/>
      </a:dk1>
      <a:lt1>
        <a:srgbClr val="7D97AD"/>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2376</Words>
  <Application>Microsoft Office PowerPoint</Application>
  <PresentationFormat>On-screen Show (16:9)</PresentationFormat>
  <Paragraphs>218</Paragraphs>
  <Slides>14</Slides>
  <Notes>14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Arial</vt:lpstr>
      <vt:lpstr>Open Sans</vt:lpstr>
      <vt:lpstr>Wingdings</vt:lpstr>
      <vt:lpstr>Simple Light</vt:lpstr>
      <vt:lpstr>Udacity Template 16x9</vt:lpstr>
      <vt:lpstr>WorldVisitz Mobile Application Agile Delivery Launch</vt:lpstr>
      <vt:lpstr>Part 1: How WorldVisitz Can Benefit From Agile </vt:lpstr>
      <vt:lpstr>What is Agile?</vt:lpstr>
      <vt:lpstr>What is Agile?</vt:lpstr>
      <vt:lpstr>What is Agile manifesto?</vt:lpstr>
      <vt:lpstr>What is Agile manifesto?</vt:lpstr>
      <vt:lpstr>What is Agile manifesto?</vt:lpstr>
      <vt:lpstr>Key differences between Agile and Waterfall</vt:lpstr>
      <vt:lpstr>The benefits of Business Agility to WorldVisitz</vt:lpstr>
      <vt:lpstr>What is Agile Umbrella</vt:lpstr>
      <vt:lpstr>Part 2: The Optimal Agile Framework for WorldVisitz</vt:lpstr>
      <vt:lpstr>Recommendations and justifications for WorldVisitz</vt:lpstr>
      <vt:lpstr>Recommendations and justifications for WorldVisitz</vt:lpstr>
      <vt:lpstr>Recommendations and justifications for WorldVisitz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Christopher O'Hara</cp:lastModifiedBy>
  <cp:revision>6</cp:revision>
  <dcterms:modified xsi:type="dcterms:W3CDTF">2026-08-09T06:56:47Z</dcterms:modified>
</cp:coreProperties>
</file>